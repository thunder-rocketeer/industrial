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Presenter 1 introduces the project and the team, then hands over according to the workflow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State the problem in one breath, then the four monitoring domains on the right. These four domains map directly to the dashboard's routes.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Walk left to right. The key design point is the single origin: the frontend proxies API calls so the session cookie works and no token is ever stored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hands over here. Replace 'Presenter N' with real names. Each following slide has the same number in the top-right corner.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1: Data &amp; Database. Emphasise that the schema is the source of truth, why the seed is deterministic (reproducible KPIs across environments), and that the CSV data source means reviewers can run the whole system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2: Backend API. Show /docs live if possible. Explain the layering and why KPI maths lives in services, not in SQL or the UI. The OEE callout is the best example: the API returns the three terms with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3: Auth &amp; Security. Walk the five steps. The two points reviewers usually probe: where the role comes from (the database, never the request) and where the token lives (an HttpOnly cookie, never JavaScript-readable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4: Frontend &amp; UI. Best done as a live demo: open the dashboard, change a filter, show the URL updating, reload and show the state persists. Mention the accessibility tests if asked about inclusivity.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Integration &amp; Delivery. Lead with the numbers, then explain that unit suites run with no network. Mention the hosted URL and that the same code runs fully offline from CSV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5 closes. Be honest about the open item: the hosted Google sign-in has not yet been verified end to end in a browser. Then move to the demo and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running dashboard for the demo. Suggested path: login -&gt; dashboard KPIs -&gt; production filter by shift -&gt; analytics OEE by machine -&gt; alerts.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1005840"/>
            <a:ext cx="5029200" cy="320040"/>
          </a:xfrm>
          <a:prstGeom prst="rect">
            <a:avLst/>
          </a:prstGeom>
          <a:noFill/>
          <a:ln/>
        </p:spPr>
        <p:txBody>
          <a:bodyPr wrap="square" lIns="0" tIns="0" rIns="0" bIns="0" rtlCol="0" anchor="ctr"/>
          <a:lstStyle/>
          <a:p>
            <a:pPr indent="0" marL="0">
              <a:buNone/>
            </a:pPr>
            <a:r>
              <a:rPr lang="en-US" sz="1200" b="1" spc="400" kern="0" dirty="0">
                <a:solidFill>
                  <a:srgbClr val="F2A413"/>
                </a:solidFill>
                <a:latin typeface="Calibri" pitchFamily="34" charset="0"/>
                <a:ea typeface="Calibri" pitchFamily="34" charset="-122"/>
                <a:cs typeface="Calibri" pitchFamily="34" charset="-120"/>
              </a:rPr>
              <a:t>PROJECT REVIEW 2</a:t>
            </a:r>
            <a:endParaRPr lang="en-US" sz="1200" dirty="0"/>
          </a:p>
        </p:txBody>
      </p:sp>
      <p:sp>
        <p:nvSpPr>
          <p:cNvPr id="3" name="Text 1"/>
          <p:cNvSpPr txBox="1"/>
          <p:nvPr/>
        </p:nvSpPr>
        <p:spPr>
          <a:xfrm>
            <a:off x="548640" y="1325880"/>
            <a:ext cx="5120640" cy="123444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Automobile Component Factory</a:t>
            </a:r>
            <a:endParaRPr lang="en-US" sz="3400" dirty="0"/>
          </a:p>
        </p:txBody>
      </p:sp>
      <p:sp>
        <p:nvSpPr>
          <p:cNvPr id="4" name="Text 2"/>
          <p:cNvSpPr txBox="1"/>
          <p:nvPr/>
        </p:nvSpPr>
        <p:spPr>
          <a:xfrm>
            <a:off x="548640" y="2651760"/>
            <a:ext cx="4937760" cy="731520"/>
          </a:xfrm>
          <a:prstGeom prst="rect">
            <a:avLst/>
          </a:prstGeom>
          <a:noFill/>
          <a:ln/>
        </p:spPr>
        <p:txBody>
          <a:bodyPr wrap="square" lIns="0" tIns="0" rIns="0" bIns="0" rtlCol="0" anchor="ctr"/>
          <a:lstStyle/>
          <a:p>
            <a:pPr indent="0" marL="0">
              <a:buNone/>
            </a:pPr>
            <a:r>
              <a:rPr lang="en-US" sz="1600" dirty="0">
                <a:solidFill>
                  <a:srgbClr val="AEB9C6"/>
                </a:solidFill>
                <a:latin typeface="Calibri" pitchFamily="34" charset="0"/>
                <a:ea typeface="Calibri" pitchFamily="34" charset="-122"/>
                <a:cs typeface="Calibri" pitchFamily="34" charset="-120"/>
              </a:rPr>
              <a:t>Operations Dashboard for production, quality, inventory and machine monitoring</a:t>
            </a:r>
            <a:endParaRPr lang="en-US" sz="1600" dirty="0"/>
          </a:p>
        </p:txBody>
      </p:sp>
      <p:sp>
        <p:nvSpPr>
          <p:cNvPr id="5" name="Text 3"/>
          <p:cNvSpPr txBox="1"/>
          <p:nvPr/>
        </p:nvSpPr>
        <p:spPr>
          <a:xfrm>
            <a:off x="548640" y="3840480"/>
            <a:ext cx="4572000" cy="365760"/>
          </a:xfrm>
          <a:prstGeom prst="rect">
            <a:avLst/>
          </a:prstGeom>
          <a:noFill/>
          <a:ln/>
        </p:spPr>
        <p:txBody>
          <a:bodyPr wrap="square" lIns="0" tIns="0" rIns="0" bIns="0" rtlCol="0" anchor="ctr"/>
          <a:lstStyle/>
          <a:p>
            <a:pPr indent="0" marL="0">
              <a:buNone/>
            </a:pPr>
            <a:r>
              <a:rPr lang="en-US" sz="1200" dirty="0">
                <a:solidFill>
                  <a:srgbClr val="AEB9C6"/>
                </a:solidFill>
                <a:latin typeface="Calibri" pitchFamily="34" charset="0"/>
                <a:ea typeface="Calibri" pitchFamily="34" charset="-122"/>
                <a:cs typeface="Calibri" pitchFamily="34" charset="-120"/>
              </a:rPr>
              <a:t>Team of 5  |  September 2026</a:t>
            </a:r>
            <a:endParaRPr lang="en-US" sz="1200" dirty="0"/>
          </a:p>
        </p:txBody>
      </p:sp>
      <p:sp>
        <p:nvSpPr>
          <p:cNvPr id="6" name="Shape 4"/>
          <p:cNvSpPr/>
          <p:nvPr/>
        </p:nvSpPr>
        <p:spPr>
          <a:xfrm>
            <a:off x="5989320" y="1234440"/>
            <a:ext cx="1280160" cy="1188720"/>
          </a:xfrm>
          <a:prstGeom prst="roundRect">
            <a:avLst>
              <a:gd name="adj" fmla="val 6154"/>
            </a:avLst>
          </a:prstGeom>
          <a:solidFill>
            <a:srgbClr val="263241"/>
          </a:solidFill>
          <a:ln w="12700">
            <a:solidFill>
              <a:srgbClr val="263241"/>
            </a:solidFill>
            <a:prstDash val="solid"/>
          </a:ln>
        </p:spPr>
      </p:sp>
      <p:sp>
        <p:nvSpPr>
          <p:cNvPr id="7" name="Text 5"/>
          <p:cNvSpPr txBox="1"/>
          <p:nvPr/>
        </p:nvSpPr>
        <p:spPr>
          <a:xfrm>
            <a:off x="6099048" y="1344168"/>
            <a:ext cx="1097280" cy="274320"/>
          </a:xfrm>
          <a:prstGeom prst="rect">
            <a:avLst/>
          </a:prstGeom>
          <a:noFill/>
          <a:ln/>
        </p:spPr>
        <p:txBody>
          <a:bodyPr wrap="square" lIns="0" tIns="0" rIns="0" bIns="0" rtlCol="0" anchor="ctr"/>
          <a:lstStyle/>
          <a:p>
            <a:pPr indent="0" marL="0">
              <a:buNone/>
            </a:pPr>
            <a:r>
              <a:rPr lang="en-US" sz="1000" dirty="0">
                <a:solidFill>
                  <a:srgbClr val="AEB9C6"/>
                </a:solidFill>
                <a:latin typeface="Calibri" pitchFamily="34" charset="0"/>
                <a:ea typeface="Calibri" pitchFamily="34" charset="-122"/>
                <a:cs typeface="Calibri" pitchFamily="34" charset="-120"/>
              </a:rPr>
              <a:t>OEE</a:t>
            </a:r>
            <a:endParaRPr lang="en-US" sz="1000" dirty="0"/>
          </a:p>
        </p:txBody>
      </p:sp>
      <p:sp>
        <p:nvSpPr>
          <p:cNvPr id="8" name="Text 6"/>
          <p:cNvSpPr txBox="1"/>
          <p:nvPr/>
        </p:nvSpPr>
        <p:spPr>
          <a:xfrm>
            <a:off x="6099048" y="1691640"/>
            <a:ext cx="1097280" cy="548640"/>
          </a:xfrm>
          <a:prstGeom prst="rect">
            <a:avLst/>
          </a:prstGeom>
          <a:noFill/>
          <a:ln/>
        </p:spPr>
        <p:txBody>
          <a:bodyPr wrap="square" lIns="0" tIns="0" rIns="0" bIns="0" rtlCol="0" anchor="ctr"/>
          <a:lstStyle/>
          <a:p>
            <a:pPr indent="0" marL="0">
              <a:buNone/>
            </a:pPr>
            <a:r>
              <a:rPr lang="en-US" sz="2400" b="1" dirty="0">
                <a:solidFill>
                  <a:srgbClr val="F2A413"/>
                </a:solidFill>
                <a:latin typeface="Calibri" pitchFamily="34" charset="0"/>
                <a:ea typeface="Calibri" pitchFamily="34" charset="-122"/>
                <a:cs typeface="Calibri" pitchFamily="34" charset="-120"/>
              </a:rPr>
              <a:t>82.4%</a:t>
            </a:r>
            <a:endParaRPr lang="en-US" sz="2400" dirty="0"/>
          </a:p>
        </p:txBody>
      </p:sp>
      <p:sp>
        <p:nvSpPr>
          <p:cNvPr id="9" name="Shape 7"/>
          <p:cNvSpPr/>
          <p:nvPr/>
        </p:nvSpPr>
        <p:spPr>
          <a:xfrm>
            <a:off x="7406640" y="1234440"/>
            <a:ext cx="1280160" cy="1188720"/>
          </a:xfrm>
          <a:prstGeom prst="roundRect">
            <a:avLst>
              <a:gd name="adj" fmla="val 6154"/>
            </a:avLst>
          </a:prstGeom>
          <a:solidFill>
            <a:srgbClr val="263241"/>
          </a:solidFill>
          <a:ln w="12700">
            <a:solidFill>
              <a:srgbClr val="263241"/>
            </a:solidFill>
            <a:prstDash val="solid"/>
          </a:ln>
        </p:spPr>
      </p:sp>
      <p:sp>
        <p:nvSpPr>
          <p:cNvPr id="10" name="Text 8"/>
          <p:cNvSpPr txBox="1"/>
          <p:nvPr/>
        </p:nvSpPr>
        <p:spPr>
          <a:xfrm>
            <a:off x="7516368" y="1344168"/>
            <a:ext cx="1097280" cy="274320"/>
          </a:xfrm>
          <a:prstGeom prst="rect">
            <a:avLst/>
          </a:prstGeom>
          <a:noFill/>
          <a:ln/>
        </p:spPr>
        <p:txBody>
          <a:bodyPr wrap="square" lIns="0" tIns="0" rIns="0" bIns="0" rtlCol="0" anchor="ctr"/>
          <a:lstStyle/>
          <a:p>
            <a:pPr indent="0" marL="0">
              <a:buNone/>
            </a:pPr>
            <a:r>
              <a:rPr lang="en-US" sz="1000" dirty="0">
                <a:solidFill>
                  <a:srgbClr val="AEB9C6"/>
                </a:solidFill>
                <a:latin typeface="Calibri" pitchFamily="34" charset="0"/>
                <a:ea typeface="Calibri" pitchFamily="34" charset="-122"/>
                <a:cs typeface="Calibri" pitchFamily="34" charset="-120"/>
              </a:rPr>
              <a:t>Output</a:t>
            </a:r>
            <a:endParaRPr lang="en-US" sz="1000" dirty="0"/>
          </a:p>
        </p:txBody>
      </p:sp>
      <p:sp>
        <p:nvSpPr>
          <p:cNvPr id="11" name="Text 9"/>
          <p:cNvSpPr txBox="1"/>
          <p:nvPr/>
        </p:nvSpPr>
        <p:spPr>
          <a:xfrm>
            <a:off x="7516368" y="1691640"/>
            <a:ext cx="109728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3,034</a:t>
            </a:r>
            <a:endParaRPr lang="en-US" sz="2400" dirty="0"/>
          </a:p>
        </p:txBody>
      </p:sp>
      <p:sp>
        <p:nvSpPr>
          <p:cNvPr id="12" name="Shape 10"/>
          <p:cNvSpPr/>
          <p:nvPr/>
        </p:nvSpPr>
        <p:spPr>
          <a:xfrm>
            <a:off x="5989320" y="2560320"/>
            <a:ext cx="1280160" cy="1188720"/>
          </a:xfrm>
          <a:prstGeom prst="roundRect">
            <a:avLst>
              <a:gd name="adj" fmla="val 6154"/>
            </a:avLst>
          </a:prstGeom>
          <a:solidFill>
            <a:srgbClr val="263241"/>
          </a:solidFill>
          <a:ln w="12700">
            <a:solidFill>
              <a:srgbClr val="263241"/>
            </a:solidFill>
            <a:prstDash val="solid"/>
          </a:ln>
        </p:spPr>
      </p:sp>
      <p:sp>
        <p:nvSpPr>
          <p:cNvPr id="13" name="Text 11"/>
          <p:cNvSpPr txBox="1"/>
          <p:nvPr/>
        </p:nvSpPr>
        <p:spPr>
          <a:xfrm>
            <a:off x="6099048" y="2670048"/>
            <a:ext cx="1097280" cy="274320"/>
          </a:xfrm>
          <a:prstGeom prst="rect">
            <a:avLst/>
          </a:prstGeom>
          <a:noFill/>
          <a:ln/>
        </p:spPr>
        <p:txBody>
          <a:bodyPr wrap="square" lIns="0" tIns="0" rIns="0" bIns="0" rtlCol="0" anchor="ctr"/>
          <a:lstStyle/>
          <a:p>
            <a:pPr indent="0" marL="0">
              <a:buNone/>
            </a:pPr>
            <a:r>
              <a:rPr lang="en-US" sz="1000" dirty="0">
                <a:solidFill>
                  <a:srgbClr val="AEB9C6"/>
                </a:solidFill>
                <a:latin typeface="Calibri" pitchFamily="34" charset="0"/>
                <a:ea typeface="Calibri" pitchFamily="34" charset="-122"/>
                <a:cs typeface="Calibri" pitchFamily="34" charset="-120"/>
              </a:rPr>
              <a:t>Defect rate</a:t>
            </a:r>
            <a:endParaRPr lang="en-US" sz="1000" dirty="0"/>
          </a:p>
        </p:txBody>
      </p:sp>
      <p:sp>
        <p:nvSpPr>
          <p:cNvPr id="14" name="Text 12"/>
          <p:cNvSpPr txBox="1"/>
          <p:nvPr/>
        </p:nvSpPr>
        <p:spPr>
          <a:xfrm>
            <a:off x="6099048" y="3017520"/>
            <a:ext cx="109728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1.9%</a:t>
            </a:r>
            <a:endParaRPr lang="en-US" sz="2400" dirty="0"/>
          </a:p>
        </p:txBody>
      </p:sp>
      <p:sp>
        <p:nvSpPr>
          <p:cNvPr id="15" name="Shape 13"/>
          <p:cNvSpPr/>
          <p:nvPr/>
        </p:nvSpPr>
        <p:spPr>
          <a:xfrm>
            <a:off x="7406640" y="2560320"/>
            <a:ext cx="1280160" cy="1188720"/>
          </a:xfrm>
          <a:prstGeom prst="roundRect">
            <a:avLst>
              <a:gd name="adj" fmla="val 6154"/>
            </a:avLst>
          </a:prstGeom>
          <a:solidFill>
            <a:srgbClr val="263241"/>
          </a:solidFill>
          <a:ln w="12700">
            <a:solidFill>
              <a:srgbClr val="263241"/>
            </a:solidFill>
            <a:prstDash val="solid"/>
          </a:ln>
        </p:spPr>
      </p:sp>
      <p:sp>
        <p:nvSpPr>
          <p:cNvPr id="16" name="Text 14"/>
          <p:cNvSpPr txBox="1"/>
          <p:nvPr/>
        </p:nvSpPr>
        <p:spPr>
          <a:xfrm>
            <a:off x="7516368" y="2670048"/>
            <a:ext cx="1097280" cy="274320"/>
          </a:xfrm>
          <a:prstGeom prst="rect">
            <a:avLst/>
          </a:prstGeom>
          <a:noFill/>
          <a:ln/>
        </p:spPr>
        <p:txBody>
          <a:bodyPr wrap="square" lIns="0" tIns="0" rIns="0" bIns="0" rtlCol="0" anchor="ctr"/>
          <a:lstStyle/>
          <a:p>
            <a:pPr indent="0" marL="0">
              <a:buNone/>
            </a:pPr>
            <a:r>
              <a:rPr lang="en-US" sz="1000" dirty="0">
                <a:solidFill>
                  <a:srgbClr val="AEB9C6"/>
                </a:solidFill>
                <a:latin typeface="Calibri" pitchFamily="34" charset="0"/>
                <a:ea typeface="Calibri" pitchFamily="34" charset="-122"/>
                <a:cs typeface="Calibri" pitchFamily="34" charset="-120"/>
              </a:rPr>
              <a:t>Availability</a:t>
            </a:r>
            <a:endParaRPr lang="en-US" sz="1000" dirty="0"/>
          </a:p>
        </p:txBody>
      </p:sp>
      <p:sp>
        <p:nvSpPr>
          <p:cNvPr id="17" name="Text 15"/>
          <p:cNvSpPr txBox="1"/>
          <p:nvPr/>
        </p:nvSpPr>
        <p:spPr>
          <a:xfrm>
            <a:off x="7516368" y="3017520"/>
            <a:ext cx="1097280" cy="54864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93%</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Problem and objective</a:t>
            </a:r>
            <a:endParaRPr lang="en-US" sz="3000" dirty="0"/>
          </a:p>
        </p:txBody>
      </p:sp>
      <p:sp>
        <p:nvSpPr>
          <p:cNvPr id="3" name="Text 1"/>
          <p:cNvSpPr txBox="1"/>
          <p:nvPr/>
        </p:nvSpPr>
        <p:spPr>
          <a:xfrm>
            <a:off x="457200" y="1097280"/>
            <a:ext cx="4206240" cy="1371600"/>
          </a:xfrm>
          <a:prstGeom prst="rect">
            <a:avLst/>
          </a:prstGeom>
          <a:noFill/>
          <a:ln/>
        </p:spPr>
        <p:txBody>
          <a:bodyPr wrap="square" lIns="0" tIns="0" rIns="0" bIns="0" rtlCol="0" anchor="t"/>
          <a:lstStyle/>
          <a:p>
            <a:pPr indent="0" marL="0">
              <a:buNone/>
            </a:pPr>
            <a:r>
              <a:rPr lang="en-US" sz="1300" dirty="0">
                <a:solidFill>
                  <a:srgbClr val="1B2430"/>
                </a:solidFill>
                <a:latin typeface="Calibri" pitchFamily="34" charset="0"/>
                <a:ea typeface="Calibri" pitchFamily="34" charset="-122"/>
                <a:cs typeface="Calibri" pitchFamily="34" charset="-120"/>
              </a:rPr>
              <a:t>A component plant (brake discs, drive shafts, gears, steering and suspension parts) runs several lines, shifts and machines. Its production, quality, stock and machine status live in separate records, so a manager cannot see today's picture in one place.</a:t>
            </a:r>
            <a:endParaRPr lang="en-US" sz="1300" dirty="0"/>
          </a:p>
        </p:txBody>
      </p:sp>
      <p:sp>
        <p:nvSpPr>
          <p:cNvPr id="4" name="Text 2"/>
          <p:cNvSpPr txBox="1"/>
          <p:nvPr/>
        </p:nvSpPr>
        <p:spPr>
          <a:xfrm>
            <a:off x="457200" y="2560320"/>
            <a:ext cx="4206240" cy="274320"/>
          </a:xfrm>
          <a:prstGeom prst="rect">
            <a:avLst/>
          </a:prstGeom>
          <a:noFill/>
          <a:ln/>
        </p:spPr>
        <p:txBody>
          <a:bodyPr wrap="square" lIns="0" tIns="0" rIns="0" bIns="0" rtlCol="0" anchor="ctr"/>
          <a:lstStyle/>
          <a:p>
            <a:pPr indent="0" marL="0">
              <a:buNone/>
            </a:pPr>
            <a:r>
              <a:rPr lang="en-US" sz="1300" b="1" dirty="0">
                <a:solidFill>
                  <a:srgbClr val="C77F05"/>
                </a:solidFill>
                <a:latin typeface="Calibri" pitchFamily="34" charset="0"/>
                <a:ea typeface="Calibri" pitchFamily="34" charset="-122"/>
                <a:cs typeface="Calibri" pitchFamily="34" charset="-120"/>
              </a:rPr>
              <a:t>Objective</a:t>
            </a:r>
            <a:endParaRPr lang="en-US" sz="1300" dirty="0"/>
          </a:p>
        </p:txBody>
      </p:sp>
      <p:sp>
        <p:nvSpPr>
          <p:cNvPr id="5" name="Text 3"/>
          <p:cNvSpPr txBox="1"/>
          <p:nvPr/>
        </p:nvSpPr>
        <p:spPr>
          <a:xfrm>
            <a:off x="457200" y="2880360"/>
            <a:ext cx="4206240" cy="164592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One secure web dashboard with role-based access</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KPIs computed server-side from a single source of truth</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Charts, tables and filters that stay in sync with the URL</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Production-grade: tested, cached, rate-limited, deployed</a:t>
            </a:r>
            <a:endParaRPr lang="en-US" sz="1300" dirty="0"/>
          </a:p>
        </p:txBody>
      </p:sp>
      <p:sp>
        <p:nvSpPr>
          <p:cNvPr id="6" name="Shape 4"/>
          <p:cNvSpPr/>
          <p:nvPr/>
        </p:nvSpPr>
        <p:spPr>
          <a:xfrm>
            <a:off x="5029200" y="1097280"/>
            <a:ext cx="1737360" cy="1463040"/>
          </a:xfrm>
          <a:prstGeom prst="roundRect">
            <a:avLst>
              <a:gd name="adj" fmla="val 5000"/>
            </a:avLst>
          </a:prstGeom>
          <a:solidFill>
            <a:srgbClr val="F1F4F8"/>
          </a:solidFill>
          <a:ln w="12700">
            <a:solidFill>
              <a:srgbClr val="F1F4F8"/>
            </a:solidFill>
            <a:prstDash val="solid"/>
          </a:ln>
        </p:spPr>
      </p:sp>
      <p:sp>
        <p:nvSpPr>
          <p:cNvPr id="7" name="Shape 5"/>
          <p:cNvSpPr/>
          <p:nvPr/>
        </p:nvSpPr>
        <p:spPr>
          <a:xfrm>
            <a:off x="5166360" y="1234440"/>
            <a:ext cx="365760" cy="365760"/>
          </a:xfrm>
          <a:prstGeom prst="ellipse">
            <a:avLst/>
          </a:prstGeom>
          <a:solidFill>
            <a:srgbClr val="F2A413"/>
          </a:solidFill>
          <a:ln w="12700">
            <a:solidFill>
              <a:srgbClr val="F2A413"/>
            </a:solidFill>
            <a:prstDash val="solid"/>
          </a:ln>
        </p:spPr>
      </p:sp>
      <p:sp>
        <p:nvSpPr>
          <p:cNvPr id="8" name="Text 6"/>
          <p:cNvSpPr txBox="1"/>
          <p:nvPr/>
        </p:nvSpPr>
        <p:spPr>
          <a:xfrm>
            <a:off x="5166360" y="1234440"/>
            <a:ext cx="365760" cy="365760"/>
          </a:xfrm>
          <a:prstGeom prst="rect">
            <a:avLst/>
          </a:prstGeom>
          <a:noFill/>
          <a:ln/>
        </p:spPr>
        <p:txBody>
          <a:bodyPr wrap="square" lIns="0" tIns="0" rIns="0" bIns="0" rtlCol="0" anchor="ctr"/>
          <a:lstStyle/>
          <a:p>
            <a:pPr algn="ctr" indent="0" marL="0">
              <a:buNone/>
            </a:pPr>
            <a:r>
              <a:rPr lang="en-US" sz="1300" b="1" dirty="0">
                <a:solidFill>
                  <a:srgbClr val="1B2430"/>
                </a:solidFill>
                <a:latin typeface="Calibri" pitchFamily="34" charset="0"/>
                <a:ea typeface="Calibri" pitchFamily="34" charset="-122"/>
                <a:cs typeface="Calibri" pitchFamily="34" charset="-120"/>
              </a:rPr>
              <a:t>P</a:t>
            </a:r>
            <a:endParaRPr lang="en-US" sz="1300" dirty="0"/>
          </a:p>
        </p:txBody>
      </p:sp>
      <p:sp>
        <p:nvSpPr>
          <p:cNvPr id="9" name="Text 7"/>
          <p:cNvSpPr txBox="1"/>
          <p:nvPr/>
        </p:nvSpPr>
        <p:spPr>
          <a:xfrm>
            <a:off x="5166360" y="1664208"/>
            <a:ext cx="146304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Production</a:t>
            </a:r>
            <a:endParaRPr lang="en-US" sz="1400" dirty="0"/>
          </a:p>
        </p:txBody>
      </p:sp>
      <p:sp>
        <p:nvSpPr>
          <p:cNvPr id="10" name="Text 8"/>
          <p:cNvSpPr txBox="1"/>
          <p:nvPr/>
        </p:nvSpPr>
        <p:spPr>
          <a:xfrm>
            <a:off x="5166360" y="1938528"/>
            <a:ext cx="1508760" cy="56692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Output vs. daily targets by machine, component, shift and line</a:t>
            </a:r>
            <a:endParaRPr lang="en-US" sz="1000" dirty="0"/>
          </a:p>
        </p:txBody>
      </p:sp>
      <p:sp>
        <p:nvSpPr>
          <p:cNvPr id="11" name="Shape 9"/>
          <p:cNvSpPr/>
          <p:nvPr/>
        </p:nvSpPr>
        <p:spPr>
          <a:xfrm>
            <a:off x="6903720" y="1097280"/>
            <a:ext cx="1737360" cy="1463040"/>
          </a:xfrm>
          <a:prstGeom prst="roundRect">
            <a:avLst>
              <a:gd name="adj" fmla="val 5000"/>
            </a:avLst>
          </a:prstGeom>
          <a:solidFill>
            <a:srgbClr val="F1F4F8"/>
          </a:solidFill>
          <a:ln w="12700">
            <a:solidFill>
              <a:srgbClr val="F1F4F8"/>
            </a:solidFill>
            <a:prstDash val="solid"/>
          </a:ln>
        </p:spPr>
      </p:sp>
      <p:sp>
        <p:nvSpPr>
          <p:cNvPr id="12" name="Shape 10"/>
          <p:cNvSpPr/>
          <p:nvPr/>
        </p:nvSpPr>
        <p:spPr>
          <a:xfrm>
            <a:off x="7040880" y="1234440"/>
            <a:ext cx="365760" cy="365760"/>
          </a:xfrm>
          <a:prstGeom prst="ellipse">
            <a:avLst/>
          </a:prstGeom>
          <a:solidFill>
            <a:srgbClr val="F2A413"/>
          </a:solidFill>
          <a:ln w="12700">
            <a:solidFill>
              <a:srgbClr val="F2A413"/>
            </a:solidFill>
            <a:prstDash val="solid"/>
          </a:ln>
        </p:spPr>
      </p:sp>
      <p:sp>
        <p:nvSpPr>
          <p:cNvPr id="13" name="Text 11"/>
          <p:cNvSpPr txBox="1"/>
          <p:nvPr/>
        </p:nvSpPr>
        <p:spPr>
          <a:xfrm>
            <a:off x="7040880" y="1234440"/>
            <a:ext cx="365760" cy="365760"/>
          </a:xfrm>
          <a:prstGeom prst="rect">
            <a:avLst/>
          </a:prstGeom>
          <a:noFill/>
          <a:ln/>
        </p:spPr>
        <p:txBody>
          <a:bodyPr wrap="square" lIns="0" tIns="0" rIns="0" bIns="0" rtlCol="0" anchor="ctr"/>
          <a:lstStyle/>
          <a:p>
            <a:pPr algn="ctr" indent="0" marL="0">
              <a:buNone/>
            </a:pPr>
            <a:r>
              <a:rPr lang="en-US" sz="1300" b="1" dirty="0">
                <a:solidFill>
                  <a:srgbClr val="1B2430"/>
                </a:solidFill>
                <a:latin typeface="Calibri" pitchFamily="34" charset="0"/>
                <a:ea typeface="Calibri" pitchFamily="34" charset="-122"/>
                <a:cs typeface="Calibri" pitchFamily="34" charset="-120"/>
              </a:rPr>
              <a:t>Q</a:t>
            </a:r>
            <a:endParaRPr lang="en-US" sz="1300" dirty="0"/>
          </a:p>
        </p:txBody>
      </p:sp>
      <p:sp>
        <p:nvSpPr>
          <p:cNvPr id="14" name="Text 12"/>
          <p:cNvSpPr txBox="1"/>
          <p:nvPr/>
        </p:nvSpPr>
        <p:spPr>
          <a:xfrm>
            <a:off x="7040880" y="1664208"/>
            <a:ext cx="146304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Quality</a:t>
            </a:r>
            <a:endParaRPr lang="en-US" sz="1400" dirty="0"/>
          </a:p>
        </p:txBody>
      </p:sp>
      <p:sp>
        <p:nvSpPr>
          <p:cNvPr id="15" name="Text 13"/>
          <p:cNvSpPr txBox="1"/>
          <p:nvPr/>
        </p:nvSpPr>
        <p:spPr>
          <a:xfrm>
            <a:off x="7040880" y="1938528"/>
            <a:ext cx="1508760" cy="56692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Defect rates, defect types and trends per component</a:t>
            </a:r>
            <a:endParaRPr lang="en-US" sz="1000" dirty="0"/>
          </a:p>
        </p:txBody>
      </p:sp>
      <p:sp>
        <p:nvSpPr>
          <p:cNvPr id="16" name="Shape 14"/>
          <p:cNvSpPr/>
          <p:nvPr/>
        </p:nvSpPr>
        <p:spPr>
          <a:xfrm>
            <a:off x="5029200" y="2697480"/>
            <a:ext cx="1737360" cy="1463040"/>
          </a:xfrm>
          <a:prstGeom prst="roundRect">
            <a:avLst>
              <a:gd name="adj" fmla="val 5000"/>
            </a:avLst>
          </a:prstGeom>
          <a:solidFill>
            <a:srgbClr val="F1F4F8"/>
          </a:solidFill>
          <a:ln w="12700">
            <a:solidFill>
              <a:srgbClr val="F1F4F8"/>
            </a:solidFill>
            <a:prstDash val="solid"/>
          </a:ln>
        </p:spPr>
      </p:sp>
      <p:sp>
        <p:nvSpPr>
          <p:cNvPr id="17" name="Shape 15"/>
          <p:cNvSpPr/>
          <p:nvPr/>
        </p:nvSpPr>
        <p:spPr>
          <a:xfrm>
            <a:off x="5166360" y="2834640"/>
            <a:ext cx="365760" cy="365760"/>
          </a:xfrm>
          <a:prstGeom prst="ellipse">
            <a:avLst/>
          </a:prstGeom>
          <a:solidFill>
            <a:srgbClr val="F2A413"/>
          </a:solidFill>
          <a:ln w="12700">
            <a:solidFill>
              <a:srgbClr val="F2A413"/>
            </a:solidFill>
            <a:prstDash val="solid"/>
          </a:ln>
        </p:spPr>
      </p:sp>
      <p:sp>
        <p:nvSpPr>
          <p:cNvPr id="18" name="Text 16"/>
          <p:cNvSpPr txBox="1"/>
          <p:nvPr/>
        </p:nvSpPr>
        <p:spPr>
          <a:xfrm>
            <a:off x="5166360" y="2834640"/>
            <a:ext cx="365760" cy="365760"/>
          </a:xfrm>
          <a:prstGeom prst="rect">
            <a:avLst/>
          </a:prstGeom>
          <a:noFill/>
          <a:ln/>
        </p:spPr>
        <p:txBody>
          <a:bodyPr wrap="square" lIns="0" tIns="0" rIns="0" bIns="0" rtlCol="0" anchor="ctr"/>
          <a:lstStyle/>
          <a:p>
            <a:pPr algn="ctr" indent="0" marL="0">
              <a:buNone/>
            </a:pPr>
            <a:r>
              <a:rPr lang="en-US" sz="1300" b="1" dirty="0">
                <a:solidFill>
                  <a:srgbClr val="1B2430"/>
                </a:solidFill>
                <a:latin typeface="Calibri" pitchFamily="34" charset="0"/>
                <a:ea typeface="Calibri" pitchFamily="34" charset="-122"/>
                <a:cs typeface="Calibri" pitchFamily="34" charset="-120"/>
              </a:rPr>
              <a:t>I</a:t>
            </a:r>
            <a:endParaRPr lang="en-US" sz="1300" dirty="0"/>
          </a:p>
        </p:txBody>
      </p:sp>
      <p:sp>
        <p:nvSpPr>
          <p:cNvPr id="19" name="Text 17"/>
          <p:cNvSpPr txBox="1"/>
          <p:nvPr/>
        </p:nvSpPr>
        <p:spPr>
          <a:xfrm>
            <a:off x="5166360" y="3264408"/>
            <a:ext cx="146304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Inventory</a:t>
            </a:r>
            <a:endParaRPr lang="en-US" sz="1400" dirty="0"/>
          </a:p>
        </p:txBody>
      </p:sp>
      <p:sp>
        <p:nvSpPr>
          <p:cNvPr id="20" name="Text 18"/>
          <p:cNvSpPr txBox="1"/>
          <p:nvPr/>
        </p:nvSpPr>
        <p:spPr>
          <a:xfrm>
            <a:off x="5166360" y="3538728"/>
            <a:ext cx="1508760" cy="56692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Stock levels, transactions, reorder alerts</a:t>
            </a:r>
            <a:endParaRPr lang="en-US" sz="1000" dirty="0"/>
          </a:p>
        </p:txBody>
      </p:sp>
      <p:sp>
        <p:nvSpPr>
          <p:cNvPr id="21" name="Shape 19"/>
          <p:cNvSpPr/>
          <p:nvPr/>
        </p:nvSpPr>
        <p:spPr>
          <a:xfrm>
            <a:off x="6903720" y="2697480"/>
            <a:ext cx="1737360" cy="1463040"/>
          </a:xfrm>
          <a:prstGeom prst="roundRect">
            <a:avLst>
              <a:gd name="adj" fmla="val 5000"/>
            </a:avLst>
          </a:prstGeom>
          <a:solidFill>
            <a:srgbClr val="F1F4F8"/>
          </a:solidFill>
          <a:ln w="12700">
            <a:solidFill>
              <a:srgbClr val="F1F4F8"/>
            </a:solidFill>
            <a:prstDash val="solid"/>
          </a:ln>
        </p:spPr>
      </p:sp>
      <p:sp>
        <p:nvSpPr>
          <p:cNvPr id="22" name="Shape 20"/>
          <p:cNvSpPr/>
          <p:nvPr/>
        </p:nvSpPr>
        <p:spPr>
          <a:xfrm>
            <a:off x="7040880" y="2834640"/>
            <a:ext cx="365760" cy="365760"/>
          </a:xfrm>
          <a:prstGeom prst="ellipse">
            <a:avLst/>
          </a:prstGeom>
          <a:solidFill>
            <a:srgbClr val="F2A413"/>
          </a:solidFill>
          <a:ln w="12700">
            <a:solidFill>
              <a:srgbClr val="F2A413"/>
            </a:solidFill>
            <a:prstDash val="solid"/>
          </a:ln>
        </p:spPr>
      </p:sp>
      <p:sp>
        <p:nvSpPr>
          <p:cNvPr id="23" name="Text 21"/>
          <p:cNvSpPr txBox="1"/>
          <p:nvPr/>
        </p:nvSpPr>
        <p:spPr>
          <a:xfrm>
            <a:off x="7040880" y="2834640"/>
            <a:ext cx="365760" cy="365760"/>
          </a:xfrm>
          <a:prstGeom prst="rect">
            <a:avLst/>
          </a:prstGeom>
          <a:noFill/>
          <a:ln/>
        </p:spPr>
        <p:txBody>
          <a:bodyPr wrap="square" lIns="0" tIns="0" rIns="0" bIns="0" rtlCol="0" anchor="ctr"/>
          <a:lstStyle/>
          <a:p>
            <a:pPr algn="ctr" indent="0" marL="0">
              <a:buNone/>
            </a:pPr>
            <a:r>
              <a:rPr lang="en-US" sz="1300" b="1" dirty="0">
                <a:solidFill>
                  <a:srgbClr val="1B2430"/>
                </a:solidFill>
                <a:latin typeface="Calibri" pitchFamily="34" charset="0"/>
                <a:ea typeface="Calibri" pitchFamily="34" charset="-122"/>
                <a:cs typeface="Calibri" pitchFamily="34" charset="-120"/>
              </a:rPr>
              <a:t>M</a:t>
            </a:r>
            <a:endParaRPr lang="en-US" sz="1300" dirty="0"/>
          </a:p>
        </p:txBody>
      </p:sp>
      <p:sp>
        <p:nvSpPr>
          <p:cNvPr id="24" name="Text 22"/>
          <p:cNvSpPr txBox="1"/>
          <p:nvPr/>
        </p:nvSpPr>
        <p:spPr>
          <a:xfrm>
            <a:off x="7040880" y="3264408"/>
            <a:ext cx="1463040" cy="27432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Machines</a:t>
            </a:r>
            <a:endParaRPr lang="en-US" sz="1400" dirty="0"/>
          </a:p>
        </p:txBody>
      </p:sp>
      <p:sp>
        <p:nvSpPr>
          <p:cNvPr id="25" name="Text 23"/>
          <p:cNvSpPr txBox="1"/>
          <p:nvPr/>
        </p:nvSpPr>
        <p:spPr>
          <a:xfrm>
            <a:off x="7040880" y="3538728"/>
            <a:ext cx="1508760" cy="56692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Status, availability, OEE, downtime, maintenance</a:t>
            </a:r>
            <a:endParaRPr lang="en-US" sz="1000" dirty="0"/>
          </a:p>
        </p:txBody>
      </p:sp>
      <p:sp>
        <p:nvSpPr>
          <p:cNvPr id="26" name="Text 24"/>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27" name="Text 25"/>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System architecture</a:t>
            </a:r>
            <a:endParaRPr lang="en-US" sz="3000" dirty="0"/>
          </a:p>
        </p:txBody>
      </p:sp>
      <p:sp>
        <p:nvSpPr>
          <p:cNvPr id="3" name="Shape 1"/>
          <p:cNvSpPr/>
          <p:nvPr/>
        </p:nvSpPr>
        <p:spPr>
          <a:xfrm>
            <a:off x="457200" y="1828800"/>
            <a:ext cx="1645920" cy="914400"/>
          </a:xfrm>
          <a:prstGeom prst="roundRect">
            <a:avLst>
              <a:gd name="adj" fmla="val 6000"/>
            </a:avLst>
          </a:prstGeom>
          <a:solidFill>
            <a:srgbClr val="1B2430"/>
          </a:solidFill>
          <a:ln w="12700">
            <a:solidFill>
              <a:srgbClr val="1B2430"/>
            </a:solidFill>
            <a:prstDash val="solid"/>
          </a:ln>
        </p:spPr>
      </p:sp>
      <p:sp>
        <p:nvSpPr>
          <p:cNvPr id="4" name="Text 2"/>
          <p:cNvSpPr txBox="1"/>
          <p:nvPr/>
        </p:nvSpPr>
        <p:spPr>
          <a:xfrm>
            <a:off x="457200" y="1828800"/>
            <a:ext cx="164592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Browser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Next.js 16 UI</a:t>
            </a:r>
            <a:endParaRPr lang="en-US" sz="1200" dirty="0"/>
          </a:p>
        </p:txBody>
      </p:sp>
      <p:sp>
        <p:nvSpPr>
          <p:cNvPr id="5" name="Shape 3"/>
          <p:cNvSpPr/>
          <p:nvPr/>
        </p:nvSpPr>
        <p:spPr>
          <a:xfrm>
            <a:off x="2606040" y="1828800"/>
            <a:ext cx="1737360" cy="914400"/>
          </a:xfrm>
          <a:prstGeom prst="roundRect">
            <a:avLst>
              <a:gd name="adj" fmla="val 6000"/>
            </a:avLst>
          </a:prstGeom>
          <a:solidFill>
            <a:srgbClr val="3B4B5C"/>
          </a:solidFill>
          <a:ln w="12700">
            <a:solidFill>
              <a:srgbClr val="3B4B5C"/>
            </a:solidFill>
            <a:prstDash val="solid"/>
          </a:ln>
        </p:spPr>
      </p:sp>
      <p:sp>
        <p:nvSpPr>
          <p:cNvPr id="6" name="Text 4"/>
          <p:cNvSpPr txBox="1"/>
          <p:nvPr/>
        </p:nvSpPr>
        <p:spPr>
          <a:xfrm>
            <a:off x="2606040" y="1828800"/>
            <a:ext cx="1737360" cy="914400"/>
          </a:xfrm>
          <a:prstGeom prst="rect">
            <a:avLst/>
          </a:prstGeom>
          <a:noFill/>
          <a:ln/>
        </p:spPr>
        <p:txBody>
          <a:bodyPr wrap="square" lIns="635" tIns="635" rIns="635" bIns="635"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Next.js server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/api/* proxy + route guard</a:t>
            </a:r>
            <a:endParaRPr lang="en-US" sz="1200" dirty="0"/>
          </a:p>
        </p:txBody>
      </p:sp>
      <p:sp>
        <p:nvSpPr>
          <p:cNvPr id="7" name="Shape 5"/>
          <p:cNvSpPr/>
          <p:nvPr/>
        </p:nvSpPr>
        <p:spPr>
          <a:xfrm>
            <a:off x="4846320" y="1828800"/>
            <a:ext cx="1737360" cy="914400"/>
          </a:xfrm>
          <a:prstGeom prst="roundRect">
            <a:avLst>
              <a:gd name="adj" fmla="val 6000"/>
            </a:avLst>
          </a:prstGeom>
          <a:solidFill>
            <a:srgbClr val="F2A413"/>
          </a:solidFill>
          <a:ln w="12700">
            <a:solidFill>
              <a:srgbClr val="F2A413"/>
            </a:solidFill>
            <a:prstDash val="solid"/>
          </a:ln>
        </p:spPr>
      </p:sp>
      <p:sp>
        <p:nvSpPr>
          <p:cNvPr id="8" name="Text 6"/>
          <p:cNvSpPr txBox="1"/>
          <p:nvPr/>
        </p:nvSpPr>
        <p:spPr>
          <a:xfrm>
            <a:off x="4846320" y="1828800"/>
            <a:ext cx="1737360" cy="914400"/>
          </a:xfrm>
          <a:prstGeom prst="rect">
            <a:avLst/>
          </a:prstGeom>
          <a:noFill/>
          <a:ln/>
        </p:spPr>
        <p:txBody>
          <a:bodyPr wrap="square" lIns="635" tIns="635" rIns="635" bIns="635" rtlCol="0" anchor="ctr"/>
          <a:lstStyle/>
          <a:p>
            <a:pPr algn="ctr" indent="0" marL="0">
              <a:buNone/>
            </a:pPr>
            <a:r>
              <a:rPr lang="en-US" sz="1200" b="1" dirty="0">
                <a:solidFill>
                  <a:srgbClr val="1B2430"/>
                </a:solidFill>
                <a:latin typeface="Calibri" pitchFamily="34" charset="0"/>
                <a:ea typeface="Calibri" pitchFamily="34" charset="-122"/>
                <a:cs typeface="Calibri" pitchFamily="34" charset="-120"/>
              </a:rPr>
              <a:t>FastAPI</a:t>
            </a:r>
            <a:endParaRPr lang="en-US" sz="1200" dirty="0"/>
          </a:p>
          <a:p>
            <a:pPr algn="ctr" indent="0" marL="0">
              <a:buNone/>
            </a:pPr>
            <a:r>
              <a:rPr lang="en-US" sz="1200" b="1" dirty="0">
                <a:solidFill>
                  <a:srgbClr val="1B2430"/>
                </a:solidFill>
                <a:latin typeface="Calibri" pitchFamily="34" charset="0"/>
                <a:ea typeface="Calibri" pitchFamily="34" charset="-122"/>
                <a:cs typeface="Calibri" pitchFamily="34" charset="-120"/>
              </a:rPr>
              <a:t>44 endpoints, KPIs, RBAC</a:t>
            </a:r>
            <a:endParaRPr lang="en-US" sz="1200" dirty="0"/>
          </a:p>
        </p:txBody>
      </p:sp>
      <p:sp>
        <p:nvSpPr>
          <p:cNvPr id="9" name="Shape 7"/>
          <p:cNvSpPr/>
          <p:nvPr/>
        </p:nvSpPr>
        <p:spPr>
          <a:xfrm>
            <a:off x="7086600" y="1234440"/>
            <a:ext cx="1600200" cy="685800"/>
          </a:xfrm>
          <a:prstGeom prst="roundRect">
            <a:avLst>
              <a:gd name="adj" fmla="val 8000"/>
            </a:avLst>
          </a:prstGeom>
          <a:solidFill>
            <a:srgbClr val="F1F4F8"/>
          </a:solidFill>
          <a:ln w="12700">
            <a:solidFill>
              <a:srgbClr val="F1F4F8"/>
            </a:solidFill>
            <a:prstDash val="solid"/>
          </a:ln>
        </p:spPr>
      </p:sp>
      <p:sp>
        <p:nvSpPr>
          <p:cNvPr id="10" name="Text 8"/>
          <p:cNvSpPr txBox="1"/>
          <p:nvPr/>
        </p:nvSpPr>
        <p:spPr>
          <a:xfrm>
            <a:off x="7086600" y="1234440"/>
            <a:ext cx="1600200" cy="685800"/>
          </a:xfrm>
          <a:prstGeom prst="rect">
            <a:avLst/>
          </a:prstGeom>
          <a:noFill/>
          <a:ln/>
        </p:spPr>
        <p:txBody>
          <a:bodyPr wrap="square" lIns="635" tIns="635" rIns="635" bIns="635"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Redis</a:t>
            </a:r>
            <a:endParaRPr lang="en-US" sz="1100" dirty="0"/>
          </a:p>
          <a:p>
            <a:pPr algn="ctr" indent="0" marL="0">
              <a:buNone/>
            </a:pPr>
            <a:r>
              <a:rPr lang="en-US" sz="1100" b="1" dirty="0">
                <a:solidFill>
                  <a:srgbClr val="1B2430"/>
                </a:solidFill>
                <a:latin typeface="Calibri" pitchFamily="34" charset="0"/>
                <a:ea typeface="Calibri" pitchFamily="34" charset="-122"/>
                <a:cs typeface="Calibri" pitchFamily="34" charset="-120"/>
              </a:rPr>
              <a:t>cache + rate limits</a:t>
            </a:r>
            <a:endParaRPr lang="en-US" sz="1100" dirty="0"/>
          </a:p>
        </p:txBody>
      </p:sp>
      <p:sp>
        <p:nvSpPr>
          <p:cNvPr id="11" name="Shape 9"/>
          <p:cNvSpPr/>
          <p:nvPr/>
        </p:nvSpPr>
        <p:spPr>
          <a:xfrm>
            <a:off x="7086600" y="2423160"/>
            <a:ext cx="1600200" cy="685800"/>
          </a:xfrm>
          <a:prstGeom prst="roundRect">
            <a:avLst>
              <a:gd name="adj" fmla="val 8000"/>
            </a:avLst>
          </a:prstGeom>
          <a:solidFill>
            <a:srgbClr val="F1F4F8"/>
          </a:solidFill>
          <a:ln w="12700">
            <a:solidFill>
              <a:srgbClr val="F1F4F8"/>
            </a:solidFill>
            <a:prstDash val="solid"/>
          </a:ln>
        </p:spPr>
      </p:sp>
      <p:sp>
        <p:nvSpPr>
          <p:cNvPr id="12" name="Text 10"/>
          <p:cNvSpPr txBox="1"/>
          <p:nvPr/>
        </p:nvSpPr>
        <p:spPr>
          <a:xfrm>
            <a:off x="7086600" y="2423160"/>
            <a:ext cx="1600200" cy="685800"/>
          </a:xfrm>
          <a:prstGeom prst="rect">
            <a:avLst/>
          </a:prstGeom>
          <a:noFill/>
          <a:ln/>
        </p:spPr>
        <p:txBody>
          <a:bodyPr wrap="square" lIns="635" tIns="635" rIns="635" bIns="635"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Supabase PostgreSQL</a:t>
            </a:r>
            <a:endParaRPr lang="en-US" sz="1100" dirty="0"/>
          </a:p>
          <a:p>
            <a:pPr algn="ctr" indent="0" marL="0">
              <a:buNone/>
            </a:pPr>
            <a:r>
              <a:rPr lang="en-US" sz="1100" b="1" dirty="0">
                <a:solidFill>
                  <a:srgbClr val="1B2430"/>
                </a:solidFill>
                <a:latin typeface="Calibri" pitchFamily="34" charset="0"/>
                <a:ea typeface="Calibri" pitchFamily="34" charset="-122"/>
                <a:cs typeface="Calibri" pitchFamily="34" charset="-120"/>
              </a:rPr>
              <a:t>source of truth</a:t>
            </a:r>
            <a:endParaRPr lang="en-US" sz="1100" dirty="0"/>
          </a:p>
        </p:txBody>
      </p:sp>
      <p:sp>
        <p:nvSpPr>
          <p:cNvPr id="13" name="Shape 11"/>
          <p:cNvSpPr/>
          <p:nvPr/>
        </p:nvSpPr>
        <p:spPr>
          <a:xfrm>
            <a:off x="4846320" y="3291840"/>
            <a:ext cx="1737360" cy="548640"/>
          </a:xfrm>
          <a:prstGeom prst="roundRect">
            <a:avLst>
              <a:gd name="adj" fmla="val 10000"/>
            </a:avLst>
          </a:prstGeom>
          <a:solidFill>
            <a:srgbClr val="F1F4F8"/>
          </a:solidFill>
          <a:ln w="12700">
            <a:solidFill>
              <a:srgbClr val="F1F4F8"/>
            </a:solidFill>
            <a:prstDash val="solid"/>
          </a:ln>
        </p:spPr>
      </p:sp>
      <p:sp>
        <p:nvSpPr>
          <p:cNvPr id="14" name="Text 12"/>
          <p:cNvSpPr txBox="1"/>
          <p:nvPr/>
        </p:nvSpPr>
        <p:spPr>
          <a:xfrm>
            <a:off x="4846320" y="3291840"/>
            <a:ext cx="1737360" cy="548640"/>
          </a:xfrm>
          <a:prstGeom prst="rect">
            <a:avLst/>
          </a:prstGeom>
          <a:noFill/>
          <a:ln/>
        </p:spPr>
        <p:txBody>
          <a:bodyPr wrap="square" lIns="635" tIns="635" rIns="635" bIns="635"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Google OAuth 2.0 / OIDC</a:t>
            </a:r>
            <a:endParaRPr lang="en-US" sz="1100" dirty="0"/>
          </a:p>
        </p:txBody>
      </p:sp>
      <p:sp>
        <p:nvSpPr>
          <p:cNvPr id="15" name="Shape 13"/>
          <p:cNvSpPr/>
          <p:nvPr/>
        </p:nvSpPr>
        <p:spPr>
          <a:xfrm>
            <a:off x="2103120" y="2286000"/>
            <a:ext cx="502920" cy="0"/>
          </a:xfrm>
          <a:prstGeom prst="line">
            <a:avLst/>
          </a:prstGeom>
          <a:noFill/>
          <a:ln w="19050">
            <a:solidFill>
              <a:srgbClr val="3B4B5C"/>
            </a:solidFill>
            <a:prstDash val="solid"/>
            <a:tailEnd type="triangle"/>
          </a:ln>
        </p:spPr>
      </p:sp>
      <p:sp>
        <p:nvSpPr>
          <p:cNvPr id="16" name="Shape 14"/>
          <p:cNvSpPr/>
          <p:nvPr/>
        </p:nvSpPr>
        <p:spPr>
          <a:xfrm>
            <a:off x="4343400" y="2286000"/>
            <a:ext cx="502920" cy="0"/>
          </a:xfrm>
          <a:prstGeom prst="line">
            <a:avLst/>
          </a:prstGeom>
          <a:noFill/>
          <a:ln w="19050">
            <a:solidFill>
              <a:srgbClr val="3B4B5C"/>
            </a:solidFill>
            <a:prstDash val="solid"/>
            <a:tailEnd type="triangle"/>
          </a:ln>
        </p:spPr>
      </p:sp>
      <p:sp>
        <p:nvSpPr>
          <p:cNvPr id="17" name="Shape 15"/>
          <p:cNvSpPr/>
          <p:nvPr/>
        </p:nvSpPr>
        <p:spPr>
          <a:xfrm flipV="1">
            <a:off x="6583680" y="1572768"/>
            <a:ext cx="502920" cy="530352"/>
          </a:xfrm>
          <a:prstGeom prst="line">
            <a:avLst/>
          </a:prstGeom>
          <a:noFill/>
          <a:ln w="19050">
            <a:solidFill>
              <a:srgbClr val="3B4B5C"/>
            </a:solidFill>
            <a:prstDash val="solid"/>
            <a:tailEnd type="triangle"/>
          </a:ln>
        </p:spPr>
      </p:sp>
      <p:sp>
        <p:nvSpPr>
          <p:cNvPr id="18" name="Shape 16"/>
          <p:cNvSpPr/>
          <p:nvPr/>
        </p:nvSpPr>
        <p:spPr>
          <a:xfrm>
            <a:off x="6583680" y="2468880"/>
            <a:ext cx="502920" cy="292608"/>
          </a:xfrm>
          <a:prstGeom prst="line">
            <a:avLst/>
          </a:prstGeom>
          <a:noFill/>
          <a:ln w="19050">
            <a:solidFill>
              <a:srgbClr val="3B4B5C"/>
            </a:solidFill>
            <a:prstDash val="solid"/>
            <a:tailEnd type="triangle"/>
          </a:ln>
        </p:spPr>
      </p:sp>
      <p:sp>
        <p:nvSpPr>
          <p:cNvPr id="19" name="Shape 17"/>
          <p:cNvSpPr/>
          <p:nvPr/>
        </p:nvSpPr>
        <p:spPr>
          <a:xfrm>
            <a:off x="5715000" y="2743200"/>
            <a:ext cx="0" cy="548640"/>
          </a:xfrm>
          <a:prstGeom prst="line">
            <a:avLst/>
          </a:prstGeom>
          <a:noFill/>
          <a:ln w="19050">
            <a:solidFill>
              <a:srgbClr val="3B4B5C"/>
            </a:solidFill>
            <a:prstDash val="solid"/>
            <a:tailEnd type="triangle"/>
          </a:ln>
        </p:spPr>
      </p:sp>
      <p:sp>
        <p:nvSpPr>
          <p:cNvPr id="20" name="Text 18"/>
          <p:cNvSpPr txBox="1"/>
          <p:nvPr/>
        </p:nvSpPr>
        <p:spPr>
          <a:xfrm>
            <a:off x="457200" y="2971800"/>
            <a:ext cx="3886200" cy="274320"/>
          </a:xfrm>
          <a:prstGeom prst="rect">
            <a:avLst/>
          </a:prstGeom>
          <a:noFill/>
          <a:ln/>
        </p:spPr>
        <p:txBody>
          <a:bodyPr wrap="square" lIns="0" tIns="0" rIns="0" bIns="0" rtlCol="0" anchor="ctr"/>
          <a:lstStyle/>
          <a:p>
            <a:pPr indent="0" marL="0">
              <a:buNone/>
            </a:pPr>
            <a:r>
              <a:rPr lang="en-US" sz="1100" b="1" dirty="0">
                <a:solidFill>
                  <a:srgbClr val="C77F05"/>
                </a:solidFill>
                <a:latin typeface="Calibri" pitchFamily="34" charset="0"/>
                <a:ea typeface="Calibri" pitchFamily="34" charset="-122"/>
                <a:cs typeface="Calibri" pitchFamily="34" charset="-120"/>
              </a:rPr>
              <a:t>Session = HttpOnly cookie on one origin</a:t>
            </a:r>
            <a:endParaRPr lang="en-US" sz="1100" dirty="0"/>
          </a:p>
        </p:txBody>
      </p:sp>
      <p:sp>
        <p:nvSpPr>
          <p:cNvPr id="21" name="Text 19"/>
          <p:cNvSpPr txBox="1"/>
          <p:nvPr/>
        </p:nvSpPr>
        <p:spPr>
          <a:xfrm>
            <a:off x="457200" y="3246120"/>
            <a:ext cx="3886200" cy="822960"/>
          </a:xfrm>
          <a:prstGeom prst="rect">
            <a:avLst/>
          </a:prstGeom>
          <a:noFill/>
          <a:ln/>
        </p:spPr>
        <p:txBody>
          <a:bodyPr wrap="square" lIns="0" tIns="0" rIns="0" bIns="0" rtlCol="0" anchor="t"/>
          <a:lstStyle/>
          <a:p>
            <a:pPr indent="0" marL="0">
              <a:buNone/>
            </a:pPr>
            <a:r>
              <a:rPr lang="en-US" sz="1100" dirty="0">
                <a:solidFill>
                  <a:srgbClr val="3B4B5C"/>
                </a:solidFill>
                <a:latin typeface="Calibri" pitchFamily="34" charset="0"/>
                <a:ea typeface="Calibri" pitchFamily="34" charset="-122"/>
                <a:cs typeface="Calibri" pitchFamily="34" charset="-120"/>
              </a:rPr>
              <a:t>The browser only ever talks to the Next.js host. It rewrites /api/* to FastAPI, so the cookie set at sign-in is sent back on every request and the frontend never holds a token.</a:t>
            </a:r>
            <a:endParaRPr lang="en-US" sz="1100" dirty="0"/>
          </a:p>
        </p:txBody>
      </p:sp>
      <p:sp>
        <p:nvSpPr>
          <p:cNvPr id="22" name="Text 20"/>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000" dirty="0">
                <a:solidFill>
                  <a:srgbClr val="6B7A89"/>
                </a:solidFill>
                <a:latin typeface="Calibri" pitchFamily="34" charset="0"/>
                <a:ea typeface="Calibri" pitchFamily="34" charset="-122"/>
                <a:cs typeface="Calibri" pitchFamily="34" charset="-120"/>
              </a:rPr>
              <a:t>Stack: Next.js 16 + React 19 + TypeScript + Tailwind 4  |  FastAPI + Python 3.10 + Pydantic  |  PostgreSQL 17 (Supabase)  |  Redis 7  |  Vercel + Render</a:t>
            </a:r>
            <a:endParaRPr lang="en-US" sz="1000" dirty="0"/>
          </a:p>
        </p:txBody>
      </p:sp>
      <p:sp>
        <p:nvSpPr>
          <p:cNvPr id="23" name="Text 21"/>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24" name="Text 22"/>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Workflow: five modules, five presenters</a:t>
            </a:r>
            <a:endParaRPr lang="en-US" sz="3000" dirty="0"/>
          </a:p>
        </p:txBody>
      </p:sp>
      <p:sp>
        <p:nvSpPr>
          <p:cNvPr id="3" name="Shape 1"/>
          <p:cNvSpPr/>
          <p:nvPr/>
        </p:nvSpPr>
        <p:spPr>
          <a:xfrm>
            <a:off x="457200" y="1234440"/>
            <a:ext cx="1481328" cy="2331720"/>
          </a:xfrm>
          <a:prstGeom prst="roundRect">
            <a:avLst>
              <a:gd name="adj" fmla="val 4938"/>
            </a:avLst>
          </a:prstGeom>
          <a:solidFill>
            <a:srgbClr val="F1F4F8"/>
          </a:solidFill>
          <a:ln w="12700">
            <a:solidFill>
              <a:srgbClr val="F1F4F8"/>
            </a:solidFill>
            <a:prstDash val="solid"/>
          </a:ln>
        </p:spPr>
      </p:sp>
      <p:sp>
        <p:nvSpPr>
          <p:cNvPr id="4" name="Shape 2"/>
          <p:cNvSpPr/>
          <p:nvPr/>
        </p:nvSpPr>
        <p:spPr>
          <a:xfrm>
            <a:off x="594360" y="1371600"/>
            <a:ext cx="457200" cy="457200"/>
          </a:xfrm>
          <a:prstGeom prst="ellipse">
            <a:avLst/>
          </a:prstGeom>
          <a:solidFill>
            <a:srgbClr val="F2A413"/>
          </a:solidFill>
          <a:ln w="12700">
            <a:solidFill>
              <a:srgbClr val="F2A413"/>
            </a:solidFill>
            <a:prstDash val="solid"/>
          </a:ln>
        </p:spPr>
      </p:sp>
      <p:sp>
        <p:nvSpPr>
          <p:cNvPr id="5" name="Text 3"/>
          <p:cNvSpPr txBox="1"/>
          <p:nvPr/>
        </p:nvSpPr>
        <p:spPr>
          <a:xfrm>
            <a:off x="594360" y="1371600"/>
            <a:ext cx="457200" cy="45720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594360" y="1965960"/>
            <a:ext cx="1207008" cy="5486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Data &amp; Database</a:t>
            </a:r>
            <a:endParaRPr lang="en-US" sz="1400" dirty="0"/>
          </a:p>
        </p:txBody>
      </p:sp>
      <p:sp>
        <p:nvSpPr>
          <p:cNvPr id="7" name="Text 5"/>
          <p:cNvSpPr txBox="1"/>
          <p:nvPr/>
        </p:nvSpPr>
        <p:spPr>
          <a:xfrm>
            <a:off x="594360" y="2514600"/>
            <a:ext cx="1207008" cy="640080"/>
          </a:xfrm>
          <a:prstGeom prst="rect">
            <a:avLst/>
          </a:prstGeom>
          <a:noFill/>
          <a:ln/>
        </p:spPr>
        <p:txBody>
          <a:bodyPr wrap="square" lIns="0" tIns="0" rIns="0" bIns="0" rtlCol="0" anchor="t"/>
          <a:lstStyle/>
          <a:p>
            <a:pPr indent="0" marL="0">
              <a:buNone/>
            </a:pPr>
            <a:r>
              <a:rPr lang="en-US" sz="1050" dirty="0">
                <a:solidFill>
                  <a:srgbClr val="3B4B5C"/>
                </a:solidFill>
                <a:latin typeface="Calibri" pitchFamily="34" charset="0"/>
                <a:ea typeface="Calibri" pitchFamily="34" charset="-122"/>
                <a:cs typeface="Calibri" pitchFamily="34" charset="-120"/>
              </a:rPr>
              <a:t>Schema, migrations, RLS, seed data</a:t>
            </a:r>
            <a:endParaRPr lang="en-US" sz="1050" dirty="0"/>
          </a:p>
        </p:txBody>
      </p:sp>
      <p:sp>
        <p:nvSpPr>
          <p:cNvPr id="8" name="Text 6"/>
          <p:cNvSpPr txBox="1"/>
          <p:nvPr/>
        </p:nvSpPr>
        <p:spPr>
          <a:xfrm>
            <a:off x="594360" y="3200400"/>
            <a:ext cx="1207008" cy="274320"/>
          </a:xfrm>
          <a:prstGeom prst="rect">
            <a:avLst/>
          </a:prstGeom>
          <a:noFill/>
          <a:ln/>
        </p:spPr>
        <p:txBody>
          <a:bodyPr wrap="square" lIns="0" tIns="0" rIns="0" bIns="0" rtlCol="0" anchor="ctr"/>
          <a:lstStyle/>
          <a:p>
            <a:pPr indent="0" marL="0">
              <a:buNone/>
            </a:pPr>
            <a:r>
              <a:rPr lang="en-US" sz="1000" b="1" dirty="0">
                <a:solidFill>
                  <a:srgbClr val="C77F05"/>
                </a:solidFill>
                <a:latin typeface="Calibri" pitchFamily="34" charset="0"/>
                <a:ea typeface="Calibri" pitchFamily="34" charset="-122"/>
                <a:cs typeface="Calibri" pitchFamily="34" charset="-120"/>
              </a:rPr>
              <a:t>Presenter 1</a:t>
            </a:r>
            <a:endParaRPr lang="en-US" sz="1000" dirty="0"/>
          </a:p>
        </p:txBody>
      </p:sp>
      <p:sp>
        <p:nvSpPr>
          <p:cNvPr id="9" name="Shape 7"/>
          <p:cNvSpPr/>
          <p:nvPr/>
        </p:nvSpPr>
        <p:spPr>
          <a:xfrm>
            <a:off x="1947672" y="2395728"/>
            <a:ext cx="187452" cy="0"/>
          </a:xfrm>
          <a:prstGeom prst="line">
            <a:avLst/>
          </a:prstGeom>
          <a:noFill/>
          <a:ln w="19050">
            <a:solidFill>
              <a:srgbClr val="3B4B5C"/>
            </a:solidFill>
            <a:prstDash val="solid"/>
            <a:tailEnd type="triangle"/>
          </a:ln>
        </p:spPr>
      </p:sp>
      <p:sp>
        <p:nvSpPr>
          <p:cNvPr id="10" name="Shape 8"/>
          <p:cNvSpPr/>
          <p:nvPr/>
        </p:nvSpPr>
        <p:spPr>
          <a:xfrm>
            <a:off x="2144268" y="1234440"/>
            <a:ext cx="1481328" cy="2331720"/>
          </a:xfrm>
          <a:prstGeom prst="roundRect">
            <a:avLst>
              <a:gd name="adj" fmla="val 4938"/>
            </a:avLst>
          </a:prstGeom>
          <a:solidFill>
            <a:srgbClr val="F1F4F8"/>
          </a:solidFill>
          <a:ln w="12700">
            <a:solidFill>
              <a:srgbClr val="F1F4F8"/>
            </a:solidFill>
            <a:prstDash val="solid"/>
          </a:ln>
        </p:spPr>
      </p:sp>
      <p:sp>
        <p:nvSpPr>
          <p:cNvPr id="11" name="Shape 9"/>
          <p:cNvSpPr/>
          <p:nvPr/>
        </p:nvSpPr>
        <p:spPr>
          <a:xfrm>
            <a:off x="2281428" y="1371600"/>
            <a:ext cx="457200" cy="457200"/>
          </a:xfrm>
          <a:prstGeom prst="ellipse">
            <a:avLst/>
          </a:prstGeom>
          <a:solidFill>
            <a:srgbClr val="F2A413"/>
          </a:solidFill>
          <a:ln w="12700">
            <a:solidFill>
              <a:srgbClr val="F2A413"/>
            </a:solidFill>
            <a:prstDash val="solid"/>
          </a:ln>
        </p:spPr>
      </p:sp>
      <p:sp>
        <p:nvSpPr>
          <p:cNvPr id="12" name="Text 10"/>
          <p:cNvSpPr txBox="1"/>
          <p:nvPr/>
        </p:nvSpPr>
        <p:spPr>
          <a:xfrm>
            <a:off x="2281428" y="1371600"/>
            <a:ext cx="457200" cy="45720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2281428" y="1965960"/>
            <a:ext cx="1207008" cy="5486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Backend API</a:t>
            </a:r>
            <a:endParaRPr lang="en-US" sz="1400" dirty="0"/>
          </a:p>
        </p:txBody>
      </p:sp>
      <p:sp>
        <p:nvSpPr>
          <p:cNvPr id="14" name="Text 12"/>
          <p:cNvSpPr txBox="1"/>
          <p:nvPr/>
        </p:nvSpPr>
        <p:spPr>
          <a:xfrm>
            <a:off x="2281428" y="2514600"/>
            <a:ext cx="1207008" cy="640080"/>
          </a:xfrm>
          <a:prstGeom prst="rect">
            <a:avLst/>
          </a:prstGeom>
          <a:noFill/>
          <a:ln/>
        </p:spPr>
        <p:txBody>
          <a:bodyPr wrap="square" lIns="0" tIns="0" rIns="0" bIns="0" rtlCol="0" anchor="t"/>
          <a:lstStyle/>
          <a:p>
            <a:pPr indent="0" marL="0">
              <a:buNone/>
            </a:pPr>
            <a:r>
              <a:rPr lang="en-US" sz="1050" dirty="0">
                <a:solidFill>
                  <a:srgbClr val="3B4B5C"/>
                </a:solidFill>
                <a:latin typeface="Calibri" pitchFamily="34" charset="0"/>
                <a:ea typeface="Calibri" pitchFamily="34" charset="-122"/>
                <a:cs typeface="Calibri" pitchFamily="34" charset="-120"/>
              </a:rPr>
              <a:t>Endpoints, services, KPI formulas, caching</a:t>
            </a:r>
            <a:endParaRPr lang="en-US" sz="1050" dirty="0"/>
          </a:p>
        </p:txBody>
      </p:sp>
      <p:sp>
        <p:nvSpPr>
          <p:cNvPr id="15" name="Text 13"/>
          <p:cNvSpPr txBox="1"/>
          <p:nvPr/>
        </p:nvSpPr>
        <p:spPr>
          <a:xfrm>
            <a:off x="2281428" y="3200400"/>
            <a:ext cx="1207008" cy="274320"/>
          </a:xfrm>
          <a:prstGeom prst="rect">
            <a:avLst/>
          </a:prstGeom>
          <a:noFill/>
          <a:ln/>
        </p:spPr>
        <p:txBody>
          <a:bodyPr wrap="square" lIns="0" tIns="0" rIns="0" bIns="0" rtlCol="0" anchor="ctr"/>
          <a:lstStyle/>
          <a:p>
            <a:pPr indent="0" marL="0">
              <a:buNone/>
            </a:pPr>
            <a:r>
              <a:rPr lang="en-US" sz="1000" b="1" dirty="0">
                <a:solidFill>
                  <a:srgbClr val="C77F05"/>
                </a:solidFill>
                <a:latin typeface="Calibri" pitchFamily="34" charset="0"/>
                <a:ea typeface="Calibri" pitchFamily="34" charset="-122"/>
                <a:cs typeface="Calibri" pitchFamily="34" charset="-120"/>
              </a:rPr>
              <a:t>Presenter 2</a:t>
            </a:r>
            <a:endParaRPr lang="en-US" sz="1000" dirty="0"/>
          </a:p>
        </p:txBody>
      </p:sp>
      <p:sp>
        <p:nvSpPr>
          <p:cNvPr id="16" name="Shape 14"/>
          <p:cNvSpPr/>
          <p:nvPr/>
        </p:nvSpPr>
        <p:spPr>
          <a:xfrm>
            <a:off x="3634740" y="2395728"/>
            <a:ext cx="187452" cy="0"/>
          </a:xfrm>
          <a:prstGeom prst="line">
            <a:avLst/>
          </a:prstGeom>
          <a:noFill/>
          <a:ln w="19050">
            <a:solidFill>
              <a:srgbClr val="3B4B5C"/>
            </a:solidFill>
            <a:prstDash val="solid"/>
            <a:tailEnd type="triangle"/>
          </a:ln>
        </p:spPr>
      </p:sp>
      <p:sp>
        <p:nvSpPr>
          <p:cNvPr id="17" name="Shape 15"/>
          <p:cNvSpPr/>
          <p:nvPr/>
        </p:nvSpPr>
        <p:spPr>
          <a:xfrm>
            <a:off x="3831336" y="1234440"/>
            <a:ext cx="1481328" cy="2331720"/>
          </a:xfrm>
          <a:prstGeom prst="roundRect">
            <a:avLst>
              <a:gd name="adj" fmla="val 4938"/>
            </a:avLst>
          </a:prstGeom>
          <a:solidFill>
            <a:srgbClr val="F1F4F8"/>
          </a:solidFill>
          <a:ln w="12700">
            <a:solidFill>
              <a:srgbClr val="F1F4F8"/>
            </a:solidFill>
            <a:prstDash val="solid"/>
          </a:ln>
        </p:spPr>
      </p:sp>
      <p:sp>
        <p:nvSpPr>
          <p:cNvPr id="18" name="Shape 16"/>
          <p:cNvSpPr/>
          <p:nvPr/>
        </p:nvSpPr>
        <p:spPr>
          <a:xfrm>
            <a:off x="3968496" y="1371600"/>
            <a:ext cx="457200" cy="457200"/>
          </a:xfrm>
          <a:prstGeom prst="ellipse">
            <a:avLst/>
          </a:prstGeom>
          <a:solidFill>
            <a:srgbClr val="F2A413"/>
          </a:solidFill>
          <a:ln w="12700">
            <a:solidFill>
              <a:srgbClr val="F2A413"/>
            </a:solidFill>
            <a:prstDash val="solid"/>
          </a:ln>
        </p:spPr>
      </p:sp>
      <p:sp>
        <p:nvSpPr>
          <p:cNvPr id="19" name="Text 17"/>
          <p:cNvSpPr txBox="1"/>
          <p:nvPr/>
        </p:nvSpPr>
        <p:spPr>
          <a:xfrm>
            <a:off x="3968496" y="1371600"/>
            <a:ext cx="457200" cy="45720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3</a:t>
            </a:r>
            <a:endParaRPr lang="en-US" sz="1600" dirty="0"/>
          </a:p>
        </p:txBody>
      </p:sp>
      <p:sp>
        <p:nvSpPr>
          <p:cNvPr id="20" name="Text 18"/>
          <p:cNvSpPr txBox="1"/>
          <p:nvPr/>
        </p:nvSpPr>
        <p:spPr>
          <a:xfrm>
            <a:off x="3968496" y="1965960"/>
            <a:ext cx="1207008" cy="5486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Auth &amp; Security</a:t>
            </a:r>
            <a:endParaRPr lang="en-US" sz="1400" dirty="0"/>
          </a:p>
        </p:txBody>
      </p:sp>
      <p:sp>
        <p:nvSpPr>
          <p:cNvPr id="21" name="Text 19"/>
          <p:cNvSpPr txBox="1"/>
          <p:nvPr/>
        </p:nvSpPr>
        <p:spPr>
          <a:xfrm>
            <a:off x="3968496" y="2514600"/>
            <a:ext cx="1207008" cy="640080"/>
          </a:xfrm>
          <a:prstGeom prst="rect">
            <a:avLst/>
          </a:prstGeom>
          <a:noFill/>
          <a:ln/>
        </p:spPr>
        <p:txBody>
          <a:bodyPr wrap="square" lIns="0" tIns="0" rIns="0" bIns="0" rtlCol="0" anchor="t"/>
          <a:lstStyle/>
          <a:p>
            <a:pPr indent="0" marL="0">
              <a:buNone/>
            </a:pPr>
            <a:r>
              <a:rPr lang="en-US" sz="1050" dirty="0">
                <a:solidFill>
                  <a:srgbClr val="3B4B5C"/>
                </a:solidFill>
                <a:latin typeface="Calibri" pitchFamily="34" charset="0"/>
                <a:ea typeface="Calibri" pitchFamily="34" charset="-122"/>
                <a:cs typeface="Calibri" pitchFamily="34" charset="-120"/>
              </a:rPr>
              <a:t>Google OIDC, JWT sessions, RBAC, CSRF</a:t>
            </a:r>
            <a:endParaRPr lang="en-US" sz="1050" dirty="0"/>
          </a:p>
        </p:txBody>
      </p:sp>
      <p:sp>
        <p:nvSpPr>
          <p:cNvPr id="22" name="Text 20"/>
          <p:cNvSpPr txBox="1"/>
          <p:nvPr/>
        </p:nvSpPr>
        <p:spPr>
          <a:xfrm>
            <a:off x="3968496" y="3200400"/>
            <a:ext cx="1207008" cy="274320"/>
          </a:xfrm>
          <a:prstGeom prst="rect">
            <a:avLst/>
          </a:prstGeom>
          <a:noFill/>
          <a:ln/>
        </p:spPr>
        <p:txBody>
          <a:bodyPr wrap="square" lIns="0" tIns="0" rIns="0" bIns="0" rtlCol="0" anchor="ctr"/>
          <a:lstStyle/>
          <a:p>
            <a:pPr indent="0" marL="0">
              <a:buNone/>
            </a:pPr>
            <a:r>
              <a:rPr lang="en-US" sz="1000" b="1" dirty="0">
                <a:solidFill>
                  <a:srgbClr val="C77F05"/>
                </a:solidFill>
                <a:latin typeface="Calibri" pitchFamily="34" charset="0"/>
                <a:ea typeface="Calibri" pitchFamily="34" charset="-122"/>
                <a:cs typeface="Calibri" pitchFamily="34" charset="-120"/>
              </a:rPr>
              <a:t>Presenter 3</a:t>
            </a:r>
            <a:endParaRPr lang="en-US" sz="1000" dirty="0"/>
          </a:p>
        </p:txBody>
      </p:sp>
      <p:sp>
        <p:nvSpPr>
          <p:cNvPr id="23" name="Shape 21"/>
          <p:cNvSpPr/>
          <p:nvPr/>
        </p:nvSpPr>
        <p:spPr>
          <a:xfrm>
            <a:off x="5321808" y="2395728"/>
            <a:ext cx="187452" cy="0"/>
          </a:xfrm>
          <a:prstGeom prst="line">
            <a:avLst/>
          </a:prstGeom>
          <a:noFill/>
          <a:ln w="19050">
            <a:solidFill>
              <a:srgbClr val="3B4B5C"/>
            </a:solidFill>
            <a:prstDash val="solid"/>
            <a:tailEnd type="triangle"/>
          </a:ln>
        </p:spPr>
      </p:sp>
      <p:sp>
        <p:nvSpPr>
          <p:cNvPr id="24" name="Shape 22"/>
          <p:cNvSpPr/>
          <p:nvPr/>
        </p:nvSpPr>
        <p:spPr>
          <a:xfrm>
            <a:off x="5518404" y="1234440"/>
            <a:ext cx="1481328" cy="2331720"/>
          </a:xfrm>
          <a:prstGeom prst="roundRect">
            <a:avLst>
              <a:gd name="adj" fmla="val 4938"/>
            </a:avLst>
          </a:prstGeom>
          <a:solidFill>
            <a:srgbClr val="F1F4F8"/>
          </a:solidFill>
          <a:ln w="12700">
            <a:solidFill>
              <a:srgbClr val="F1F4F8"/>
            </a:solidFill>
            <a:prstDash val="solid"/>
          </a:ln>
        </p:spPr>
      </p:sp>
      <p:sp>
        <p:nvSpPr>
          <p:cNvPr id="25" name="Shape 23"/>
          <p:cNvSpPr/>
          <p:nvPr/>
        </p:nvSpPr>
        <p:spPr>
          <a:xfrm>
            <a:off x="5655564" y="1371600"/>
            <a:ext cx="457200" cy="457200"/>
          </a:xfrm>
          <a:prstGeom prst="ellipse">
            <a:avLst/>
          </a:prstGeom>
          <a:solidFill>
            <a:srgbClr val="F2A413"/>
          </a:solidFill>
          <a:ln w="12700">
            <a:solidFill>
              <a:srgbClr val="F2A413"/>
            </a:solidFill>
            <a:prstDash val="solid"/>
          </a:ln>
        </p:spPr>
      </p:sp>
      <p:sp>
        <p:nvSpPr>
          <p:cNvPr id="26" name="Text 24"/>
          <p:cNvSpPr txBox="1"/>
          <p:nvPr/>
        </p:nvSpPr>
        <p:spPr>
          <a:xfrm>
            <a:off x="5655564" y="1371600"/>
            <a:ext cx="457200" cy="45720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4</a:t>
            </a:r>
            <a:endParaRPr lang="en-US" sz="1600" dirty="0"/>
          </a:p>
        </p:txBody>
      </p:sp>
      <p:sp>
        <p:nvSpPr>
          <p:cNvPr id="27" name="Text 25"/>
          <p:cNvSpPr txBox="1"/>
          <p:nvPr/>
        </p:nvSpPr>
        <p:spPr>
          <a:xfrm>
            <a:off x="5655564" y="1965960"/>
            <a:ext cx="1207008" cy="5486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Frontend &amp; UI</a:t>
            </a:r>
            <a:endParaRPr lang="en-US" sz="1400" dirty="0"/>
          </a:p>
        </p:txBody>
      </p:sp>
      <p:sp>
        <p:nvSpPr>
          <p:cNvPr id="28" name="Text 26"/>
          <p:cNvSpPr txBox="1"/>
          <p:nvPr/>
        </p:nvSpPr>
        <p:spPr>
          <a:xfrm>
            <a:off x="5655564" y="2514600"/>
            <a:ext cx="1207008" cy="640080"/>
          </a:xfrm>
          <a:prstGeom prst="rect">
            <a:avLst/>
          </a:prstGeom>
          <a:noFill/>
          <a:ln/>
        </p:spPr>
        <p:txBody>
          <a:bodyPr wrap="square" lIns="0" tIns="0" rIns="0" bIns="0" rtlCol="0" anchor="t"/>
          <a:lstStyle/>
          <a:p>
            <a:pPr indent="0" marL="0">
              <a:buNone/>
            </a:pPr>
            <a:r>
              <a:rPr lang="en-US" sz="1050" dirty="0">
                <a:solidFill>
                  <a:srgbClr val="3B4B5C"/>
                </a:solidFill>
                <a:latin typeface="Calibri" pitchFamily="34" charset="0"/>
                <a:ea typeface="Calibri" pitchFamily="34" charset="-122"/>
                <a:cs typeface="Calibri" pitchFamily="34" charset="-120"/>
              </a:rPr>
              <a:t>Data layer, 9 routes, charts, tables</a:t>
            </a:r>
            <a:endParaRPr lang="en-US" sz="1050" dirty="0"/>
          </a:p>
        </p:txBody>
      </p:sp>
      <p:sp>
        <p:nvSpPr>
          <p:cNvPr id="29" name="Text 27"/>
          <p:cNvSpPr txBox="1"/>
          <p:nvPr/>
        </p:nvSpPr>
        <p:spPr>
          <a:xfrm>
            <a:off x="5655564" y="3200400"/>
            <a:ext cx="1207008" cy="274320"/>
          </a:xfrm>
          <a:prstGeom prst="rect">
            <a:avLst/>
          </a:prstGeom>
          <a:noFill/>
          <a:ln/>
        </p:spPr>
        <p:txBody>
          <a:bodyPr wrap="square" lIns="0" tIns="0" rIns="0" bIns="0" rtlCol="0" anchor="ctr"/>
          <a:lstStyle/>
          <a:p>
            <a:pPr indent="0" marL="0">
              <a:buNone/>
            </a:pPr>
            <a:r>
              <a:rPr lang="en-US" sz="1000" b="1" dirty="0">
                <a:solidFill>
                  <a:srgbClr val="C77F05"/>
                </a:solidFill>
                <a:latin typeface="Calibri" pitchFamily="34" charset="0"/>
                <a:ea typeface="Calibri" pitchFamily="34" charset="-122"/>
                <a:cs typeface="Calibri" pitchFamily="34" charset="-120"/>
              </a:rPr>
              <a:t>Presenter 4</a:t>
            </a:r>
            <a:endParaRPr lang="en-US" sz="1000" dirty="0"/>
          </a:p>
        </p:txBody>
      </p:sp>
      <p:sp>
        <p:nvSpPr>
          <p:cNvPr id="30" name="Shape 28"/>
          <p:cNvSpPr/>
          <p:nvPr/>
        </p:nvSpPr>
        <p:spPr>
          <a:xfrm>
            <a:off x="7008876" y="2395728"/>
            <a:ext cx="187452" cy="0"/>
          </a:xfrm>
          <a:prstGeom prst="line">
            <a:avLst/>
          </a:prstGeom>
          <a:noFill/>
          <a:ln w="19050">
            <a:solidFill>
              <a:srgbClr val="3B4B5C"/>
            </a:solidFill>
            <a:prstDash val="solid"/>
            <a:tailEnd type="triangle"/>
          </a:ln>
        </p:spPr>
      </p:sp>
      <p:sp>
        <p:nvSpPr>
          <p:cNvPr id="31" name="Shape 29"/>
          <p:cNvSpPr/>
          <p:nvPr/>
        </p:nvSpPr>
        <p:spPr>
          <a:xfrm>
            <a:off x="7205472" y="1234440"/>
            <a:ext cx="1481328" cy="2331720"/>
          </a:xfrm>
          <a:prstGeom prst="roundRect">
            <a:avLst>
              <a:gd name="adj" fmla="val 4938"/>
            </a:avLst>
          </a:prstGeom>
          <a:solidFill>
            <a:srgbClr val="F1F4F8"/>
          </a:solidFill>
          <a:ln w="12700">
            <a:solidFill>
              <a:srgbClr val="F1F4F8"/>
            </a:solidFill>
            <a:prstDash val="solid"/>
          </a:ln>
        </p:spPr>
      </p:sp>
      <p:sp>
        <p:nvSpPr>
          <p:cNvPr id="32" name="Shape 30"/>
          <p:cNvSpPr/>
          <p:nvPr/>
        </p:nvSpPr>
        <p:spPr>
          <a:xfrm>
            <a:off x="7342632" y="1371600"/>
            <a:ext cx="457200" cy="457200"/>
          </a:xfrm>
          <a:prstGeom prst="ellipse">
            <a:avLst/>
          </a:prstGeom>
          <a:solidFill>
            <a:srgbClr val="F2A413"/>
          </a:solidFill>
          <a:ln w="12700">
            <a:solidFill>
              <a:srgbClr val="F2A413"/>
            </a:solidFill>
            <a:prstDash val="solid"/>
          </a:ln>
        </p:spPr>
      </p:sp>
      <p:sp>
        <p:nvSpPr>
          <p:cNvPr id="33" name="Text 31"/>
          <p:cNvSpPr txBox="1"/>
          <p:nvPr/>
        </p:nvSpPr>
        <p:spPr>
          <a:xfrm>
            <a:off x="7342632" y="1371600"/>
            <a:ext cx="457200" cy="457200"/>
          </a:xfrm>
          <a:prstGeom prst="rect">
            <a:avLst/>
          </a:prstGeom>
          <a:noFill/>
          <a:ln/>
        </p:spPr>
        <p:txBody>
          <a:bodyPr wrap="square" lIns="0" tIns="0" rIns="0" bIns="0" rtlCol="0" anchor="ctr"/>
          <a:lstStyle/>
          <a:p>
            <a:pPr algn="ctr" indent="0" marL="0">
              <a:buNone/>
            </a:pPr>
            <a:r>
              <a:rPr lang="en-US" sz="1600" b="1" dirty="0">
                <a:solidFill>
                  <a:srgbClr val="1B2430"/>
                </a:solidFill>
                <a:latin typeface="Calibri" pitchFamily="34" charset="0"/>
                <a:ea typeface="Calibri" pitchFamily="34" charset="-122"/>
                <a:cs typeface="Calibri" pitchFamily="34" charset="-120"/>
              </a:rPr>
              <a:t>5</a:t>
            </a:r>
            <a:endParaRPr lang="en-US" sz="1600" dirty="0"/>
          </a:p>
        </p:txBody>
      </p:sp>
      <p:sp>
        <p:nvSpPr>
          <p:cNvPr id="34" name="Text 32"/>
          <p:cNvSpPr txBox="1"/>
          <p:nvPr/>
        </p:nvSpPr>
        <p:spPr>
          <a:xfrm>
            <a:off x="7342632" y="1965960"/>
            <a:ext cx="1207008" cy="548640"/>
          </a:xfrm>
          <a:prstGeom prst="rect">
            <a:avLst/>
          </a:prstGeom>
          <a:noFill/>
          <a:ln/>
        </p:spPr>
        <p:txBody>
          <a:bodyPr wrap="square" lIns="0" tIns="0" rIns="0" bIns="0" rtlCol="0" anchor="t"/>
          <a:lstStyle/>
          <a:p>
            <a:pPr indent="0" marL="0">
              <a:buNone/>
            </a:pPr>
            <a:r>
              <a:rPr lang="en-US" sz="1400" b="1" dirty="0">
                <a:solidFill>
                  <a:srgbClr val="1B2430"/>
                </a:solidFill>
                <a:latin typeface="Calibri" pitchFamily="34" charset="0"/>
                <a:ea typeface="Calibri" pitchFamily="34" charset="-122"/>
                <a:cs typeface="Calibri" pitchFamily="34" charset="-120"/>
              </a:rPr>
              <a:t>Integration &amp; Delivery</a:t>
            </a:r>
            <a:endParaRPr lang="en-US" sz="1400" dirty="0"/>
          </a:p>
        </p:txBody>
      </p:sp>
      <p:sp>
        <p:nvSpPr>
          <p:cNvPr id="35" name="Text 33"/>
          <p:cNvSpPr txBox="1"/>
          <p:nvPr/>
        </p:nvSpPr>
        <p:spPr>
          <a:xfrm>
            <a:off x="7342632" y="2514600"/>
            <a:ext cx="1207008" cy="640080"/>
          </a:xfrm>
          <a:prstGeom prst="rect">
            <a:avLst/>
          </a:prstGeom>
          <a:noFill/>
          <a:ln/>
        </p:spPr>
        <p:txBody>
          <a:bodyPr wrap="square" lIns="0" tIns="0" rIns="0" bIns="0" rtlCol="0" anchor="t"/>
          <a:lstStyle/>
          <a:p>
            <a:pPr indent="0" marL="0">
              <a:buNone/>
            </a:pPr>
            <a:r>
              <a:rPr lang="en-US" sz="1050" dirty="0">
                <a:solidFill>
                  <a:srgbClr val="3B4B5C"/>
                </a:solidFill>
                <a:latin typeface="Calibri" pitchFamily="34" charset="0"/>
                <a:ea typeface="Calibri" pitchFamily="34" charset="-122"/>
                <a:cs typeface="Calibri" pitchFamily="34" charset="-120"/>
              </a:rPr>
              <a:t>Tests, hardening, deployment</a:t>
            </a:r>
            <a:endParaRPr lang="en-US" sz="1050" dirty="0"/>
          </a:p>
        </p:txBody>
      </p:sp>
      <p:sp>
        <p:nvSpPr>
          <p:cNvPr id="36" name="Text 34"/>
          <p:cNvSpPr txBox="1"/>
          <p:nvPr/>
        </p:nvSpPr>
        <p:spPr>
          <a:xfrm>
            <a:off x="7342632" y="3200400"/>
            <a:ext cx="1207008" cy="274320"/>
          </a:xfrm>
          <a:prstGeom prst="rect">
            <a:avLst/>
          </a:prstGeom>
          <a:noFill/>
          <a:ln/>
        </p:spPr>
        <p:txBody>
          <a:bodyPr wrap="square" lIns="0" tIns="0" rIns="0" bIns="0" rtlCol="0" anchor="ctr"/>
          <a:lstStyle/>
          <a:p>
            <a:pPr indent="0" marL="0">
              <a:buNone/>
            </a:pPr>
            <a:r>
              <a:rPr lang="en-US" sz="1000" b="1" dirty="0">
                <a:solidFill>
                  <a:srgbClr val="C77F05"/>
                </a:solidFill>
                <a:latin typeface="Calibri" pitchFamily="34" charset="0"/>
                <a:ea typeface="Calibri" pitchFamily="34" charset="-122"/>
                <a:cs typeface="Calibri" pitchFamily="34" charset="-120"/>
              </a:rPr>
              <a:t>Presenter 5</a:t>
            </a:r>
            <a:endParaRPr lang="en-US" sz="1000" dirty="0"/>
          </a:p>
        </p:txBody>
      </p:sp>
      <p:sp>
        <p:nvSpPr>
          <p:cNvPr id="37" name="Text 35"/>
          <p:cNvSpPr txBox="1"/>
          <p:nvPr/>
        </p:nvSpPr>
        <p:spPr>
          <a:xfrm>
            <a:off x="457200" y="3794760"/>
            <a:ext cx="8229600" cy="548640"/>
          </a:xfrm>
          <a:prstGeom prst="rect">
            <a:avLst/>
          </a:prstGeom>
          <a:noFill/>
          <a:ln/>
        </p:spPr>
        <p:txBody>
          <a:bodyPr wrap="square" lIns="0" tIns="0" rIns="0" bIns="0" rtlCol="0" anchor="t"/>
          <a:lstStyle/>
          <a:p>
            <a:pPr indent="0" marL="0">
              <a:buNone/>
            </a:pPr>
            <a:r>
              <a:rPr lang="en-US" sz="1200" dirty="0">
                <a:solidFill>
                  <a:srgbClr val="3B4B5C"/>
                </a:solidFill>
                <a:latin typeface="Calibri" pitchFamily="34" charset="0"/>
                <a:ea typeface="Calibri" pitchFamily="34" charset="-122"/>
                <a:cs typeface="Calibri" pitchFamily="34" charset="-120"/>
              </a:rPr>
              <a:t>Data flows in this order at runtime too: a row in PostgreSQL becomes a KPI in FastAPI, is gated by a role, rendered by the UI, and proven by tests and a live deployment.</a:t>
            </a:r>
            <a:endParaRPr lang="en-US" sz="1200" dirty="0"/>
          </a:p>
        </p:txBody>
      </p:sp>
      <p:sp>
        <p:nvSpPr>
          <p:cNvPr id="38" name="Text 36"/>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39" name="Text 37"/>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Data model and database</a:t>
            </a:r>
            <a:endParaRPr lang="en-US" sz="3000" dirty="0"/>
          </a:p>
        </p:txBody>
      </p:sp>
      <p:sp>
        <p:nvSpPr>
          <p:cNvPr id="3" name="Shape 1"/>
          <p:cNvSpPr/>
          <p:nvPr/>
        </p:nvSpPr>
        <p:spPr>
          <a:xfrm>
            <a:off x="6903720" y="384048"/>
            <a:ext cx="384048" cy="384048"/>
          </a:xfrm>
          <a:prstGeom prst="ellipse">
            <a:avLst/>
          </a:prstGeom>
          <a:solidFill>
            <a:srgbClr val="F2A413"/>
          </a:solidFill>
          <a:ln w="12700">
            <a:solidFill>
              <a:srgbClr val="F2A413"/>
            </a:solidFill>
            <a:prstDash val="solid"/>
          </a:ln>
        </p:spPr>
      </p:sp>
      <p:sp>
        <p:nvSpPr>
          <p:cNvPr id="4" name="Text 2"/>
          <p:cNvSpPr txBox="1"/>
          <p:nvPr/>
        </p:nvSpPr>
        <p:spPr>
          <a:xfrm>
            <a:off x="6903720" y="384048"/>
            <a:ext cx="384048" cy="384048"/>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7360920" y="347472"/>
            <a:ext cx="1371600" cy="45720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Presenter 1</a:t>
            </a:r>
            <a:endParaRPr lang="en-US" sz="1200" dirty="0"/>
          </a:p>
          <a:p>
            <a:pPr indent="0" marL="0">
              <a:buNone/>
            </a:pPr>
            <a:r>
              <a:rPr lang="en-US" sz="1000" dirty="0">
                <a:solidFill>
                  <a:srgbClr val="6B7A89"/>
                </a:solidFill>
                <a:latin typeface="Calibri" pitchFamily="34" charset="0"/>
                <a:ea typeface="Calibri" pitchFamily="34" charset="-122"/>
                <a:cs typeface="Calibri" pitchFamily="34" charset="-120"/>
              </a:rPr>
              <a:t>Data &amp; Database</a:t>
            </a:r>
            <a:endParaRPr lang="en-US" sz="1200" dirty="0"/>
          </a:p>
        </p:txBody>
      </p:sp>
      <p:sp>
        <p:nvSpPr>
          <p:cNvPr id="6" name="Text 4"/>
          <p:cNvSpPr txBox="1"/>
          <p:nvPr/>
        </p:nvSpPr>
        <p:spPr>
          <a:xfrm>
            <a:off x="457200" y="1143000"/>
            <a:ext cx="4754880" cy="2651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PostgreSQL 17 on Supabase; schema owned by 9 versioned migrations</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15 tables across reference, production, quality, inventory, maintenance, alerts, audit and identity</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Row-level security and a generated single-file schema.sql</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Deterministic seed (fixed random seed, 90 days) so every environment has the same numbers</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CSV export of the seeded data lets the API run with no database at all</a:t>
            </a:r>
            <a:endParaRPr lang="en-US" sz="1300" dirty="0"/>
          </a:p>
        </p:txBody>
      </p:sp>
      <p:sp>
        <p:nvSpPr>
          <p:cNvPr id="7" name="Text 5"/>
          <p:cNvSpPr txBox="1"/>
          <p:nvPr/>
        </p:nvSpPr>
        <p:spPr>
          <a:xfrm>
            <a:off x="457200" y="3749040"/>
            <a:ext cx="128016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15</a:t>
            </a:r>
            <a:endParaRPr lang="en-US" sz="3600" dirty="0"/>
          </a:p>
        </p:txBody>
      </p:sp>
      <p:sp>
        <p:nvSpPr>
          <p:cNvPr id="8" name="Text 6"/>
          <p:cNvSpPr txBox="1"/>
          <p:nvPr/>
        </p:nvSpPr>
        <p:spPr>
          <a:xfrm>
            <a:off x="457200" y="4407408"/>
            <a:ext cx="128016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tables</a:t>
            </a:r>
            <a:endParaRPr lang="en-US" sz="1100" dirty="0"/>
          </a:p>
        </p:txBody>
      </p:sp>
      <p:sp>
        <p:nvSpPr>
          <p:cNvPr id="9" name="Text 7"/>
          <p:cNvSpPr txBox="1"/>
          <p:nvPr/>
        </p:nvSpPr>
        <p:spPr>
          <a:xfrm>
            <a:off x="1737360" y="3749040"/>
            <a:ext cx="128016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9</a:t>
            </a:r>
            <a:endParaRPr lang="en-US" sz="3600" dirty="0"/>
          </a:p>
        </p:txBody>
      </p:sp>
      <p:sp>
        <p:nvSpPr>
          <p:cNvPr id="10" name="Text 8"/>
          <p:cNvSpPr txBox="1"/>
          <p:nvPr/>
        </p:nvSpPr>
        <p:spPr>
          <a:xfrm>
            <a:off x="1737360" y="4407408"/>
            <a:ext cx="128016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migrations</a:t>
            </a:r>
            <a:endParaRPr lang="en-US" sz="1100" dirty="0"/>
          </a:p>
        </p:txBody>
      </p:sp>
      <p:sp>
        <p:nvSpPr>
          <p:cNvPr id="11" name="Text 9"/>
          <p:cNvSpPr txBox="1"/>
          <p:nvPr/>
        </p:nvSpPr>
        <p:spPr>
          <a:xfrm>
            <a:off x="3017520" y="3749040"/>
            <a:ext cx="146304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12.5k</a:t>
            </a:r>
            <a:endParaRPr lang="en-US" sz="3600" dirty="0"/>
          </a:p>
        </p:txBody>
      </p:sp>
      <p:sp>
        <p:nvSpPr>
          <p:cNvPr id="12" name="Text 10"/>
          <p:cNvSpPr txBox="1"/>
          <p:nvPr/>
        </p:nvSpPr>
        <p:spPr>
          <a:xfrm>
            <a:off x="3017520" y="4407408"/>
            <a:ext cx="146304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seeded rows</a:t>
            </a:r>
            <a:endParaRPr lang="en-US" sz="1100" dirty="0"/>
          </a:p>
        </p:txBody>
      </p:sp>
      <p:sp>
        <p:nvSpPr>
          <p:cNvPr id="13" name="Shape 11"/>
          <p:cNvSpPr/>
          <p:nvPr/>
        </p:nvSpPr>
        <p:spPr>
          <a:xfrm>
            <a:off x="5486400" y="1143000"/>
            <a:ext cx="3200400" cy="3520440"/>
          </a:xfrm>
          <a:prstGeom prst="roundRect">
            <a:avLst>
              <a:gd name="adj" fmla="val 2286"/>
            </a:avLst>
          </a:prstGeom>
          <a:solidFill>
            <a:srgbClr val="F1F4F8"/>
          </a:solidFill>
          <a:ln w="12700">
            <a:solidFill>
              <a:srgbClr val="F1F4F8"/>
            </a:solidFill>
            <a:prstDash val="solid"/>
          </a:ln>
        </p:spPr>
      </p:sp>
      <p:sp>
        <p:nvSpPr>
          <p:cNvPr id="14" name="Text 12"/>
          <p:cNvSpPr txBox="1"/>
          <p:nvPr/>
        </p:nvSpPr>
        <p:spPr>
          <a:xfrm>
            <a:off x="5669280" y="1261872"/>
            <a:ext cx="2834640" cy="274320"/>
          </a:xfrm>
          <a:prstGeom prst="rect">
            <a:avLst/>
          </a:prstGeom>
          <a:noFill/>
          <a:ln/>
        </p:spPr>
        <p:txBody>
          <a:bodyPr wrap="square" lIns="0" tIns="0" rIns="0" bIns="0" rtlCol="0" anchor="ctr"/>
          <a:lstStyle/>
          <a:p>
            <a:pPr indent="0" marL="0">
              <a:buNone/>
            </a:pPr>
            <a:r>
              <a:rPr lang="en-US" sz="1200" b="1" dirty="0">
                <a:solidFill>
                  <a:srgbClr val="C77F05"/>
                </a:solidFill>
                <a:latin typeface="Calibri" pitchFamily="34" charset="0"/>
                <a:ea typeface="Calibri" pitchFamily="34" charset="-122"/>
                <a:cs typeface="Calibri" pitchFamily="34" charset="-120"/>
              </a:rPr>
              <a:t>Table groups</a:t>
            </a:r>
            <a:endParaRPr lang="en-US" sz="1200" dirty="0"/>
          </a:p>
        </p:txBody>
      </p:sp>
      <p:sp>
        <p:nvSpPr>
          <p:cNvPr id="15" name="Text 13"/>
          <p:cNvSpPr txBox="1"/>
          <p:nvPr/>
        </p:nvSpPr>
        <p:spPr>
          <a:xfrm>
            <a:off x="5669280" y="1600200"/>
            <a:ext cx="914400" cy="457200"/>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Reference</a:t>
            </a:r>
            <a:endParaRPr lang="en-US" sz="1100" dirty="0"/>
          </a:p>
        </p:txBody>
      </p:sp>
      <p:sp>
        <p:nvSpPr>
          <p:cNvPr id="16" name="Text 14"/>
          <p:cNvSpPr txBox="1"/>
          <p:nvPr/>
        </p:nvSpPr>
        <p:spPr>
          <a:xfrm>
            <a:off x="6583680" y="1600200"/>
            <a:ext cx="1965960" cy="457200"/>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factory_lines, machines, components, shifts, daily_targets</a:t>
            </a:r>
            <a:endParaRPr lang="en-US" sz="1000" dirty="0"/>
          </a:p>
        </p:txBody>
      </p:sp>
      <p:sp>
        <p:nvSpPr>
          <p:cNvPr id="17" name="Text 15"/>
          <p:cNvSpPr txBox="1"/>
          <p:nvPr/>
        </p:nvSpPr>
        <p:spPr>
          <a:xfrm>
            <a:off x="5669280" y="2093976"/>
            <a:ext cx="914400" cy="457200"/>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Production</a:t>
            </a:r>
            <a:endParaRPr lang="en-US" sz="1100" dirty="0"/>
          </a:p>
        </p:txBody>
      </p:sp>
      <p:sp>
        <p:nvSpPr>
          <p:cNvPr id="18" name="Text 16"/>
          <p:cNvSpPr txBox="1"/>
          <p:nvPr/>
        </p:nvSpPr>
        <p:spPr>
          <a:xfrm>
            <a:off x="6583680" y="2093976"/>
            <a:ext cx="1965960" cy="457200"/>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production_records (3,034)</a:t>
            </a:r>
            <a:endParaRPr lang="en-US" sz="1000" dirty="0"/>
          </a:p>
        </p:txBody>
      </p:sp>
      <p:sp>
        <p:nvSpPr>
          <p:cNvPr id="19" name="Text 17"/>
          <p:cNvSpPr txBox="1"/>
          <p:nvPr/>
        </p:nvSpPr>
        <p:spPr>
          <a:xfrm>
            <a:off x="5669280" y="2587752"/>
            <a:ext cx="914400" cy="457200"/>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Quality</a:t>
            </a:r>
            <a:endParaRPr lang="en-US" sz="1100" dirty="0"/>
          </a:p>
        </p:txBody>
      </p:sp>
      <p:sp>
        <p:nvSpPr>
          <p:cNvPr id="20" name="Text 18"/>
          <p:cNvSpPr txBox="1"/>
          <p:nvPr/>
        </p:nvSpPr>
        <p:spPr>
          <a:xfrm>
            <a:off x="6583680" y="2587752"/>
            <a:ext cx="1965960" cy="457200"/>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quality_records (8,528), defects</a:t>
            </a:r>
            <a:endParaRPr lang="en-US" sz="1000" dirty="0"/>
          </a:p>
        </p:txBody>
      </p:sp>
      <p:sp>
        <p:nvSpPr>
          <p:cNvPr id="21" name="Text 19"/>
          <p:cNvSpPr txBox="1"/>
          <p:nvPr/>
        </p:nvSpPr>
        <p:spPr>
          <a:xfrm>
            <a:off x="5669280" y="3081528"/>
            <a:ext cx="914400" cy="457200"/>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Inventory</a:t>
            </a:r>
            <a:endParaRPr lang="en-US" sz="1100" dirty="0"/>
          </a:p>
        </p:txBody>
      </p:sp>
      <p:sp>
        <p:nvSpPr>
          <p:cNvPr id="22" name="Text 20"/>
          <p:cNvSpPr txBox="1"/>
          <p:nvPr/>
        </p:nvSpPr>
        <p:spPr>
          <a:xfrm>
            <a:off x="6583680" y="3081528"/>
            <a:ext cx="1965960" cy="457200"/>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inventory_items, inventory_transactions</a:t>
            </a:r>
            <a:endParaRPr lang="en-US" sz="1000" dirty="0"/>
          </a:p>
        </p:txBody>
      </p:sp>
      <p:sp>
        <p:nvSpPr>
          <p:cNvPr id="23" name="Text 21"/>
          <p:cNvSpPr txBox="1"/>
          <p:nvPr/>
        </p:nvSpPr>
        <p:spPr>
          <a:xfrm>
            <a:off x="5669280" y="3575304"/>
            <a:ext cx="914400" cy="457200"/>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Operations</a:t>
            </a:r>
            <a:endParaRPr lang="en-US" sz="1100" dirty="0"/>
          </a:p>
        </p:txBody>
      </p:sp>
      <p:sp>
        <p:nvSpPr>
          <p:cNvPr id="24" name="Text 22"/>
          <p:cNvSpPr txBox="1"/>
          <p:nvPr/>
        </p:nvSpPr>
        <p:spPr>
          <a:xfrm>
            <a:off x="6583680" y="3575304"/>
            <a:ext cx="1965960" cy="457200"/>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maintenance_records, alerts, audit_logs</a:t>
            </a:r>
            <a:endParaRPr lang="en-US" sz="1000" dirty="0"/>
          </a:p>
        </p:txBody>
      </p:sp>
      <p:sp>
        <p:nvSpPr>
          <p:cNvPr id="25" name="Text 23"/>
          <p:cNvSpPr txBox="1"/>
          <p:nvPr/>
        </p:nvSpPr>
        <p:spPr>
          <a:xfrm>
            <a:off x="5669280" y="4069080"/>
            <a:ext cx="914400" cy="457200"/>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Identity</a:t>
            </a:r>
            <a:endParaRPr lang="en-US" sz="1100" dirty="0"/>
          </a:p>
        </p:txBody>
      </p:sp>
      <p:sp>
        <p:nvSpPr>
          <p:cNvPr id="26" name="Text 24"/>
          <p:cNvSpPr txBox="1"/>
          <p:nvPr/>
        </p:nvSpPr>
        <p:spPr>
          <a:xfrm>
            <a:off x="6583680" y="4069080"/>
            <a:ext cx="1965960" cy="457200"/>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users, roles</a:t>
            </a:r>
            <a:endParaRPr lang="en-US" sz="1000" dirty="0"/>
          </a:p>
        </p:txBody>
      </p:sp>
      <p:sp>
        <p:nvSpPr>
          <p:cNvPr id="27" name="Text 25"/>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28" name="Text 26"/>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Backend API</a:t>
            </a:r>
            <a:endParaRPr lang="en-US" sz="3000" dirty="0"/>
          </a:p>
        </p:txBody>
      </p:sp>
      <p:sp>
        <p:nvSpPr>
          <p:cNvPr id="3" name="Shape 1"/>
          <p:cNvSpPr/>
          <p:nvPr/>
        </p:nvSpPr>
        <p:spPr>
          <a:xfrm>
            <a:off x="6903720" y="384048"/>
            <a:ext cx="384048" cy="384048"/>
          </a:xfrm>
          <a:prstGeom prst="ellipse">
            <a:avLst/>
          </a:prstGeom>
          <a:solidFill>
            <a:srgbClr val="F2A413"/>
          </a:solidFill>
          <a:ln w="12700">
            <a:solidFill>
              <a:srgbClr val="F2A413"/>
            </a:solidFill>
            <a:prstDash val="solid"/>
          </a:ln>
        </p:spPr>
      </p:sp>
      <p:sp>
        <p:nvSpPr>
          <p:cNvPr id="4" name="Text 2"/>
          <p:cNvSpPr txBox="1"/>
          <p:nvPr/>
        </p:nvSpPr>
        <p:spPr>
          <a:xfrm>
            <a:off x="6903720" y="384048"/>
            <a:ext cx="384048" cy="384048"/>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2</a:t>
            </a:r>
            <a:endParaRPr lang="en-US" sz="1400" dirty="0"/>
          </a:p>
        </p:txBody>
      </p:sp>
      <p:sp>
        <p:nvSpPr>
          <p:cNvPr id="5" name="Text 3"/>
          <p:cNvSpPr txBox="1"/>
          <p:nvPr/>
        </p:nvSpPr>
        <p:spPr>
          <a:xfrm>
            <a:off x="7360920" y="347472"/>
            <a:ext cx="1371600" cy="45720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Presenter 2</a:t>
            </a:r>
            <a:endParaRPr lang="en-US" sz="1200" dirty="0"/>
          </a:p>
          <a:p>
            <a:pPr indent="0" marL="0">
              <a:buNone/>
            </a:pPr>
            <a:r>
              <a:rPr lang="en-US" sz="1000" dirty="0">
                <a:solidFill>
                  <a:srgbClr val="6B7A89"/>
                </a:solidFill>
                <a:latin typeface="Calibri" pitchFamily="34" charset="0"/>
                <a:ea typeface="Calibri" pitchFamily="34" charset="-122"/>
                <a:cs typeface="Calibri" pitchFamily="34" charset="-120"/>
              </a:rPr>
              <a:t>Backend API</a:t>
            </a:r>
            <a:endParaRPr lang="en-US" sz="1200" dirty="0"/>
          </a:p>
        </p:txBody>
      </p:sp>
      <p:sp>
        <p:nvSpPr>
          <p:cNvPr id="6" name="Text 4"/>
          <p:cNvSpPr txBox="1"/>
          <p:nvPr/>
        </p:nvSpPr>
        <p:spPr>
          <a:xfrm>
            <a:off x="457200" y="1143000"/>
            <a:ext cx="4846320" cy="27432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FastAPI with 9 route modules and 44 endpoints under /api/v1</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Layered: routes -&gt; services (KPI formulas) -&gt; repositories (parameterised SQL)</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Three response envelopes only: data, data + pagination, error; every response carries X-Request-ID</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Redis caching in tiers (dashboard 30 s, trends, analytics 15 min) with a fail-open design</a:t>
            </a:r>
            <a:endParaRPr lang="en-US" sz="1300" dirty="0"/>
          </a:p>
          <a:p>
            <a:pPr marL="177800" indent="-177800">
              <a:spcAft>
                <a:spcPts val="600"/>
              </a:spcAft>
              <a:buSzPct val="100000"/>
              <a:buChar char="•"/>
            </a:pPr>
            <a:r>
              <a:rPr lang="en-US" sz="1300" dirty="0">
                <a:solidFill>
                  <a:srgbClr val="1B2430"/>
                </a:solidFill>
                <a:latin typeface="Calibri" pitchFamily="34" charset="0"/>
                <a:ea typeface="Calibri" pitchFamily="34" charset="-122"/>
                <a:cs typeface="Calibri" pitchFamily="34" charset="-120"/>
              </a:rPr>
              <a:t>Pydantic-validated settings that refuse to start with an insecure production config</a:t>
            </a:r>
            <a:endParaRPr lang="en-US" sz="1300" dirty="0"/>
          </a:p>
        </p:txBody>
      </p:sp>
      <p:sp>
        <p:nvSpPr>
          <p:cNvPr id="7" name="Shape 5"/>
          <p:cNvSpPr/>
          <p:nvPr/>
        </p:nvSpPr>
        <p:spPr>
          <a:xfrm>
            <a:off x="5760720" y="1188720"/>
            <a:ext cx="2926080" cy="502920"/>
          </a:xfrm>
          <a:prstGeom prst="roundRect">
            <a:avLst>
              <a:gd name="adj" fmla="val 10909"/>
            </a:avLst>
          </a:prstGeom>
          <a:solidFill>
            <a:srgbClr val="1B2430"/>
          </a:solidFill>
          <a:ln w="12700">
            <a:solidFill>
              <a:srgbClr val="1B2430"/>
            </a:solidFill>
            <a:prstDash val="solid"/>
          </a:ln>
        </p:spPr>
      </p:sp>
      <p:sp>
        <p:nvSpPr>
          <p:cNvPr id="8" name="Text 6"/>
          <p:cNvSpPr txBox="1"/>
          <p:nvPr/>
        </p:nvSpPr>
        <p:spPr>
          <a:xfrm>
            <a:off x="5760720" y="1188720"/>
            <a:ext cx="2926080" cy="50292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Routes  -  validation, auth, envelopes</a:t>
            </a:r>
            <a:endParaRPr lang="en-US" sz="1100" dirty="0"/>
          </a:p>
        </p:txBody>
      </p:sp>
      <p:sp>
        <p:nvSpPr>
          <p:cNvPr id="9" name="Shape 7"/>
          <p:cNvSpPr/>
          <p:nvPr/>
        </p:nvSpPr>
        <p:spPr>
          <a:xfrm>
            <a:off x="7223760" y="1691640"/>
            <a:ext cx="0" cy="182880"/>
          </a:xfrm>
          <a:prstGeom prst="line">
            <a:avLst/>
          </a:prstGeom>
          <a:noFill/>
          <a:ln w="19050">
            <a:solidFill>
              <a:srgbClr val="3B4B5C"/>
            </a:solidFill>
            <a:prstDash val="solid"/>
            <a:tailEnd type="triangle"/>
          </a:ln>
        </p:spPr>
      </p:sp>
      <p:sp>
        <p:nvSpPr>
          <p:cNvPr id="10" name="Shape 8"/>
          <p:cNvSpPr/>
          <p:nvPr/>
        </p:nvSpPr>
        <p:spPr>
          <a:xfrm>
            <a:off x="5760720" y="1874520"/>
            <a:ext cx="2926080" cy="502920"/>
          </a:xfrm>
          <a:prstGeom prst="roundRect">
            <a:avLst>
              <a:gd name="adj" fmla="val 10909"/>
            </a:avLst>
          </a:prstGeom>
          <a:solidFill>
            <a:srgbClr val="F2A413"/>
          </a:solidFill>
          <a:ln w="12700">
            <a:solidFill>
              <a:srgbClr val="F2A413"/>
            </a:solidFill>
            <a:prstDash val="solid"/>
          </a:ln>
        </p:spPr>
      </p:sp>
      <p:sp>
        <p:nvSpPr>
          <p:cNvPr id="11" name="Text 9"/>
          <p:cNvSpPr txBox="1"/>
          <p:nvPr/>
        </p:nvSpPr>
        <p:spPr>
          <a:xfrm>
            <a:off x="5760720" y="1874520"/>
            <a:ext cx="2926080" cy="502920"/>
          </a:xfrm>
          <a:prstGeom prst="rect">
            <a:avLst/>
          </a:prstGeom>
          <a:noFill/>
          <a:ln/>
        </p:spPr>
        <p:txBody>
          <a:bodyPr wrap="square" lIns="635" tIns="635" rIns="635" bIns="635"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Services  -  KPI formulas, labels</a:t>
            </a:r>
            <a:endParaRPr lang="en-US" sz="1100" dirty="0"/>
          </a:p>
        </p:txBody>
      </p:sp>
      <p:sp>
        <p:nvSpPr>
          <p:cNvPr id="12" name="Shape 10"/>
          <p:cNvSpPr/>
          <p:nvPr/>
        </p:nvSpPr>
        <p:spPr>
          <a:xfrm>
            <a:off x="7223760" y="2377440"/>
            <a:ext cx="0" cy="182880"/>
          </a:xfrm>
          <a:prstGeom prst="line">
            <a:avLst/>
          </a:prstGeom>
          <a:noFill/>
          <a:ln w="19050">
            <a:solidFill>
              <a:srgbClr val="3B4B5C"/>
            </a:solidFill>
            <a:prstDash val="solid"/>
            <a:tailEnd type="triangle"/>
          </a:ln>
        </p:spPr>
      </p:sp>
      <p:sp>
        <p:nvSpPr>
          <p:cNvPr id="13" name="Shape 11"/>
          <p:cNvSpPr/>
          <p:nvPr/>
        </p:nvSpPr>
        <p:spPr>
          <a:xfrm>
            <a:off x="5760720" y="2560320"/>
            <a:ext cx="2926080" cy="502920"/>
          </a:xfrm>
          <a:prstGeom prst="roundRect">
            <a:avLst>
              <a:gd name="adj" fmla="val 10909"/>
            </a:avLst>
          </a:prstGeom>
          <a:solidFill>
            <a:srgbClr val="3B4B5C"/>
          </a:solidFill>
          <a:ln w="12700">
            <a:solidFill>
              <a:srgbClr val="3B4B5C"/>
            </a:solidFill>
            <a:prstDash val="solid"/>
          </a:ln>
        </p:spPr>
      </p:sp>
      <p:sp>
        <p:nvSpPr>
          <p:cNvPr id="14" name="Text 12"/>
          <p:cNvSpPr txBox="1"/>
          <p:nvPr/>
        </p:nvSpPr>
        <p:spPr>
          <a:xfrm>
            <a:off x="5760720" y="2560320"/>
            <a:ext cx="2926080" cy="502920"/>
          </a:xfrm>
          <a:prstGeom prst="rect">
            <a:avLst/>
          </a:prstGeom>
          <a:noFill/>
          <a:ln/>
        </p:spPr>
        <p:txBody>
          <a:bodyPr wrap="square" lIns="635" tIns="635" rIns="635" bIns="635"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Repositories  -  SQL / CSV store</a:t>
            </a:r>
            <a:endParaRPr lang="en-US" sz="1100" dirty="0"/>
          </a:p>
        </p:txBody>
      </p:sp>
      <p:sp>
        <p:nvSpPr>
          <p:cNvPr id="15" name="Shape 13"/>
          <p:cNvSpPr/>
          <p:nvPr/>
        </p:nvSpPr>
        <p:spPr>
          <a:xfrm>
            <a:off x="7223760" y="3063240"/>
            <a:ext cx="0" cy="182880"/>
          </a:xfrm>
          <a:prstGeom prst="line">
            <a:avLst/>
          </a:prstGeom>
          <a:noFill/>
          <a:ln w="19050">
            <a:solidFill>
              <a:srgbClr val="3B4B5C"/>
            </a:solidFill>
            <a:prstDash val="solid"/>
            <a:tailEnd type="triangle"/>
          </a:ln>
        </p:spPr>
      </p:sp>
      <p:sp>
        <p:nvSpPr>
          <p:cNvPr id="16" name="Shape 14"/>
          <p:cNvSpPr/>
          <p:nvPr/>
        </p:nvSpPr>
        <p:spPr>
          <a:xfrm>
            <a:off x="5760720" y="3246120"/>
            <a:ext cx="2926080" cy="502920"/>
          </a:xfrm>
          <a:prstGeom prst="roundRect">
            <a:avLst>
              <a:gd name="adj" fmla="val 10909"/>
            </a:avLst>
          </a:prstGeom>
          <a:solidFill>
            <a:srgbClr val="F1F4F8"/>
          </a:solidFill>
          <a:ln w="12700">
            <a:solidFill>
              <a:srgbClr val="F1F4F8"/>
            </a:solidFill>
            <a:prstDash val="solid"/>
          </a:ln>
        </p:spPr>
      </p:sp>
      <p:sp>
        <p:nvSpPr>
          <p:cNvPr id="17" name="Text 15"/>
          <p:cNvSpPr txBox="1"/>
          <p:nvPr/>
        </p:nvSpPr>
        <p:spPr>
          <a:xfrm>
            <a:off x="5760720" y="3246120"/>
            <a:ext cx="2926080" cy="502920"/>
          </a:xfrm>
          <a:prstGeom prst="rect">
            <a:avLst/>
          </a:prstGeom>
          <a:noFill/>
          <a:ln/>
        </p:spPr>
        <p:txBody>
          <a:bodyPr wrap="square" lIns="635" tIns="635" rIns="635" bIns="635" rtlCol="0" anchor="ctr"/>
          <a:lstStyle/>
          <a:p>
            <a:pPr algn="ctr" indent="0" marL="0">
              <a:buNone/>
            </a:pPr>
            <a:r>
              <a:rPr lang="en-US" sz="1100" b="1" dirty="0">
                <a:solidFill>
                  <a:srgbClr val="1B2430"/>
                </a:solidFill>
                <a:latin typeface="Calibri" pitchFamily="34" charset="0"/>
                <a:ea typeface="Calibri" pitchFamily="34" charset="-122"/>
                <a:cs typeface="Calibri" pitchFamily="34" charset="-120"/>
              </a:rPr>
              <a:t>PostgreSQL  |  Redis</a:t>
            </a:r>
            <a:endParaRPr lang="en-US" sz="1100" dirty="0"/>
          </a:p>
        </p:txBody>
      </p:sp>
      <p:sp>
        <p:nvSpPr>
          <p:cNvPr id="18" name="Shape 16"/>
          <p:cNvSpPr/>
          <p:nvPr/>
        </p:nvSpPr>
        <p:spPr>
          <a:xfrm>
            <a:off x="457200" y="3931920"/>
            <a:ext cx="4846320" cy="731520"/>
          </a:xfrm>
          <a:prstGeom prst="roundRect">
            <a:avLst>
              <a:gd name="adj" fmla="val 10000"/>
            </a:avLst>
          </a:prstGeom>
          <a:solidFill>
            <a:srgbClr val="F1F4F8"/>
          </a:solidFill>
          <a:ln w="12700">
            <a:solidFill>
              <a:srgbClr val="F1F4F8"/>
            </a:solidFill>
            <a:prstDash val="solid"/>
          </a:ln>
        </p:spPr>
      </p:sp>
      <p:sp>
        <p:nvSpPr>
          <p:cNvPr id="19" name="Text 17"/>
          <p:cNvSpPr txBox="1"/>
          <p:nvPr/>
        </p:nvSpPr>
        <p:spPr>
          <a:xfrm>
            <a:off x="594360" y="3977640"/>
            <a:ext cx="4572000" cy="64008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OEE = Availability x Performance x Quality</a:t>
            </a:r>
            <a:endParaRPr lang="en-US" sz="1200" dirty="0"/>
          </a:p>
          <a:p>
            <a:pPr indent="0" marL="0">
              <a:buNone/>
            </a:pPr>
            <a:r>
              <a:rPr lang="en-US" sz="1050" dirty="0">
                <a:solidFill>
                  <a:srgbClr val="3B4B5C"/>
                </a:solidFill>
                <a:latin typeface="Calibri" pitchFamily="34" charset="0"/>
                <a:ea typeface="Calibri" pitchFamily="34" charset="-122"/>
                <a:cs typeface="Calibri" pitchFamily="34" charset="-120"/>
              </a:rPr>
              <a:t>Always returned with its three terms, so a drop can be explained, not just observed.</a:t>
            </a:r>
            <a:endParaRPr lang="en-US" sz="1200" dirty="0"/>
          </a:p>
        </p:txBody>
      </p:sp>
      <p:sp>
        <p:nvSpPr>
          <p:cNvPr id="20" name="Text 18"/>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21" name="Text 19"/>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Authentication and security</a:t>
            </a:r>
            <a:endParaRPr lang="en-US" sz="3000" dirty="0"/>
          </a:p>
        </p:txBody>
      </p:sp>
      <p:sp>
        <p:nvSpPr>
          <p:cNvPr id="3" name="Shape 1"/>
          <p:cNvSpPr/>
          <p:nvPr/>
        </p:nvSpPr>
        <p:spPr>
          <a:xfrm>
            <a:off x="6903720" y="384048"/>
            <a:ext cx="384048" cy="384048"/>
          </a:xfrm>
          <a:prstGeom prst="ellipse">
            <a:avLst/>
          </a:prstGeom>
          <a:solidFill>
            <a:srgbClr val="F2A413"/>
          </a:solidFill>
          <a:ln w="12700">
            <a:solidFill>
              <a:srgbClr val="F2A413"/>
            </a:solidFill>
            <a:prstDash val="solid"/>
          </a:ln>
        </p:spPr>
      </p:sp>
      <p:sp>
        <p:nvSpPr>
          <p:cNvPr id="4" name="Text 2"/>
          <p:cNvSpPr txBox="1"/>
          <p:nvPr/>
        </p:nvSpPr>
        <p:spPr>
          <a:xfrm>
            <a:off x="6903720" y="384048"/>
            <a:ext cx="384048" cy="384048"/>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3</a:t>
            </a:r>
            <a:endParaRPr lang="en-US" sz="1400" dirty="0"/>
          </a:p>
        </p:txBody>
      </p:sp>
      <p:sp>
        <p:nvSpPr>
          <p:cNvPr id="5" name="Text 3"/>
          <p:cNvSpPr txBox="1"/>
          <p:nvPr/>
        </p:nvSpPr>
        <p:spPr>
          <a:xfrm>
            <a:off x="7360920" y="347472"/>
            <a:ext cx="1371600" cy="45720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Presenter 3</a:t>
            </a:r>
            <a:endParaRPr lang="en-US" sz="1200" dirty="0"/>
          </a:p>
          <a:p>
            <a:pPr indent="0" marL="0">
              <a:buNone/>
            </a:pPr>
            <a:r>
              <a:rPr lang="en-US" sz="1000" dirty="0">
                <a:solidFill>
                  <a:srgbClr val="6B7A89"/>
                </a:solidFill>
                <a:latin typeface="Calibri" pitchFamily="34" charset="0"/>
                <a:ea typeface="Calibri" pitchFamily="34" charset="-122"/>
                <a:cs typeface="Calibri" pitchFamily="34" charset="-120"/>
              </a:rPr>
              <a:t>Auth &amp; Security</a:t>
            </a:r>
            <a:endParaRPr lang="en-US" sz="1200" dirty="0"/>
          </a:p>
        </p:txBody>
      </p:sp>
      <p:sp>
        <p:nvSpPr>
          <p:cNvPr id="6" name="Shape 4"/>
          <p:cNvSpPr/>
          <p:nvPr/>
        </p:nvSpPr>
        <p:spPr>
          <a:xfrm>
            <a:off x="457200" y="1188720"/>
            <a:ext cx="1481328" cy="822960"/>
          </a:xfrm>
          <a:prstGeom prst="roundRect">
            <a:avLst>
              <a:gd name="adj" fmla="val 6667"/>
            </a:avLst>
          </a:prstGeom>
          <a:solidFill>
            <a:srgbClr val="F1F4F8"/>
          </a:solidFill>
          <a:ln w="12700">
            <a:solidFill>
              <a:srgbClr val="F1F4F8"/>
            </a:solidFill>
            <a:prstDash val="solid"/>
          </a:ln>
        </p:spPr>
      </p:sp>
      <p:sp>
        <p:nvSpPr>
          <p:cNvPr id="7" name="Text 5"/>
          <p:cNvSpPr txBox="1"/>
          <p:nvPr/>
        </p:nvSpPr>
        <p:spPr>
          <a:xfrm>
            <a:off x="457200" y="1188720"/>
            <a:ext cx="1481328" cy="822960"/>
          </a:xfrm>
          <a:prstGeom prst="rect">
            <a:avLst/>
          </a:prstGeom>
          <a:noFill/>
          <a:ln/>
        </p:spPr>
        <p:txBody>
          <a:bodyPr wrap="square" lIns="635" tIns="635" rIns="635" bIns="635" rtlCol="0" anchor="ctr"/>
          <a:lstStyle/>
          <a:p>
            <a:pPr algn="ctr" indent="0" marL="0">
              <a:buNone/>
            </a:pPr>
            <a:r>
              <a:rPr lang="en-US" sz="1050" dirty="0">
                <a:solidFill>
                  <a:srgbClr val="1B2430"/>
                </a:solidFill>
                <a:latin typeface="Calibri" pitchFamily="34" charset="0"/>
                <a:ea typeface="Calibri" pitchFamily="34" charset="-122"/>
                <a:cs typeface="Calibri" pitchFamily="34" charset="-120"/>
              </a:rPr>
              <a:t>Sign in with Google</a:t>
            </a:r>
            <a:endParaRPr lang="en-US" sz="1050" dirty="0"/>
          </a:p>
        </p:txBody>
      </p:sp>
      <p:sp>
        <p:nvSpPr>
          <p:cNvPr id="8" name="Shape 6"/>
          <p:cNvSpPr/>
          <p:nvPr/>
        </p:nvSpPr>
        <p:spPr>
          <a:xfrm>
            <a:off x="1947672" y="1600200"/>
            <a:ext cx="182880" cy="0"/>
          </a:xfrm>
          <a:prstGeom prst="line">
            <a:avLst/>
          </a:prstGeom>
          <a:noFill/>
          <a:ln w="19050">
            <a:solidFill>
              <a:srgbClr val="3B4B5C"/>
            </a:solidFill>
            <a:prstDash val="solid"/>
            <a:tailEnd type="triangle"/>
          </a:ln>
        </p:spPr>
      </p:sp>
      <p:sp>
        <p:nvSpPr>
          <p:cNvPr id="9" name="Shape 7"/>
          <p:cNvSpPr/>
          <p:nvPr/>
        </p:nvSpPr>
        <p:spPr>
          <a:xfrm>
            <a:off x="2139696" y="1188720"/>
            <a:ext cx="1481328" cy="822960"/>
          </a:xfrm>
          <a:prstGeom prst="roundRect">
            <a:avLst>
              <a:gd name="adj" fmla="val 6667"/>
            </a:avLst>
          </a:prstGeom>
          <a:solidFill>
            <a:srgbClr val="F1F4F8"/>
          </a:solidFill>
          <a:ln w="12700">
            <a:solidFill>
              <a:srgbClr val="F1F4F8"/>
            </a:solidFill>
            <a:prstDash val="solid"/>
          </a:ln>
        </p:spPr>
      </p:sp>
      <p:sp>
        <p:nvSpPr>
          <p:cNvPr id="10" name="Text 8"/>
          <p:cNvSpPr txBox="1"/>
          <p:nvPr/>
        </p:nvSpPr>
        <p:spPr>
          <a:xfrm>
            <a:off x="2139696" y="1188720"/>
            <a:ext cx="1481328" cy="822960"/>
          </a:xfrm>
          <a:prstGeom prst="rect">
            <a:avLst/>
          </a:prstGeom>
          <a:noFill/>
          <a:ln/>
        </p:spPr>
        <p:txBody>
          <a:bodyPr wrap="square" lIns="635" tIns="635" rIns="635" bIns="635" rtlCol="0" anchor="ctr"/>
          <a:lstStyle/>
          <a:p>
            <a:pPr algn="ctr" indent="0" marL="0">
              <a:buNone/>
            </a:pPr>
            <a:r>
              <a:rPr lang="en-US" sz="1050" dirty="0">
                <a:solidFill>
                  <a:srgbClr val="1B2430"/>
                </a:solidFill>
                <a:latin typeface="Calibri" pitchFamily="34" charset="0"/>
                <a:ea typeface="Calibri" pitchFamily="34" charset="-122"/>
                <a:cs typeface="Calibri" pitchFamily="34" charset="-120"/>
              </a:rPr>
              <a:t>OIDC token verified</a:t>
            </a:r>
            <a:endParaRPr lang="en-US" sz="1050" dirty="0"/>
          </a:p>
          <a:p>
            <a:pPr algn="ctr" indent="0" marL="0">
              <a:buNone/>
            </a:pPr>
            <a:r>
              <a:rPr lang="en-US" sz="1050" dirty="0">
                <a:solidFill>
                  <a:srgbClr val="1B2430"/>
                </a:solidFill>
                <a:latin typeface="Calibri" pitchFamily="34" charset="0"/>
                <a:ea typeface="Calibri" pitchFamily="34" charset="-122"/>
                <a:cs typeface="Calibri" pitchFamily="34" charset="-120"/>
              </a:rPr>
              <a:t>(signature, issuer, nonce)</a:t>
            </a:r>
            <a:endParaRPr lang="en-US" sz="1050" dirty="0"/>
          </a:p>
        </p:txBody>
      </p:sp>
      <p:sp>
        <p:nvSpPr>
          <p:cNvPr id="11" name="Shape 9"/>
          <p:cNvSpPr/>
          <p:nvPr/>
        </p:nvSpPr>
        <p:spPr>
          <a:xfrm>
            <a:off x="3630168" y="1600200"/>
            <a:ext cx="182880" cy="0"/>
          </a:xfrm>
          <a:prstGeom prst="line">
            <a:avLst/>
          </a:prstGeom>
          <a:noFill/>
          <a:ln w="19050">
            <a:solidFill>
              <a:srgbClr val="3B4B5C"/>
            </a:solidFill>
            <a:prstDash val="solid"/>
            <a:tailEnd type="triangle"/>
          </a:ln>
        </p:spPr>
      </p:sp>
      <p:sp>
        <p:nvSpPr>
          <p:cNvPr id="12" name="Shape 10"/>
          <p:cNvSpPr/>
          <p:nvPr/>
        </p:nvSpPr>
        <p:spPr>
          <a:xfrm>
            <a:off x="3822192" y="1188720"/>
            <a:ext cx="1481328" cy="822960"/>
          </a:xfrm>
          <a:prstGeom prst="roundRect">
            <a:avLst>
              <a:gd name="adj" fmla="val 6667"/>
            </a:avLst>
          </a:prstGeom>
          <a:solidFill>
            <a:srgbClr val="F1F4F8"/>
          </a:solidFill>
          <a:ln w="12700">
            <a:solidFill>
              <a:srgbClr val="F1F4F8"/>
            </a:solidFill>
            <a:prstDash val="solid"/>
          </a:ln>
        </p:spPr>
      </p:sp>
      <p:sp>
        <p:nvSpPr>
          <p:cNvPr id="13" name="Text 11"/>
          <p:cNvSpPr txBox="1"/>
          <p:nvPr/>
        </p:nvSpPr>
        <p:spPr>
          <a:xfrm>
            <a:off x="3822192" y="1188720"/>
            <a:ext cx="1481328" cy="822960"/>
          </a:xfrm>
          <a:prstGeom prst="rect">
            <a:avLst/>
          </a:prstGeom>
          <a:noFill/>
          <a:ln/>
        </p:spPr>
        <p:txBody>
          <a:bodyPr wrap="square" lIns="635" tIns="635" rIns="635" bIns="635" rtlCol="0" anchor="ctr"/>
          <a:lstStyle/>
          <a:p>
            <a:pPr algn="ctr" indent="0" marL="0">
              <a:buNone/>
            </a:pPr>
            <a:r>
              <a:rPr lang="en-US" sz="1050" dirty="0">
                <a:solidFill>
                  <a:srgbClr val="1B2430"/>
                </a:solidFill>
                <a:latin typeface="Calibri" pitchFamily="34" charset="0"/>
                <a:ea typeface="Calibri" pitchFamily="34" charset="-122"/>
                <a:cs typeface="Calibri" pitchFamily="34" charset="-120"/>
              </a:rPr>
              <a:t>User resolved or</a:t>
            </a:r>
            <a:endParaRPr lang="en-US" sz="1050" dirty="0"/>
          </a:p>
          <a:p>
            <a:pPr algn="ctr" indent="0" marL="0">
              <a:buNone/>
            </a:pPr>
            <a:r>
              <a:rPr lang="en-US" sz="1050" dirty="0">
                <a:solidFill>
                  <a:srgbClr val="1B2430"/>
                </a:solidFill>
                <a:latin typeface="Calibri" pitchFamily="34" charset="0"/>
                <a:ea typeface="Calibri" pitchFamily="34" charset="-122"/>
                <a:cs typeface="Calibri" pitchFamily="34" charset="-120"/>
              </a:rPr>
              <a:t>provisioned, role from DB</a:t>
            </a:r>
            <a:endParaRPr lang="en-US" sz="1050" dirty="0"/>
          </a:p>
        </p:txBody>
      </p:sp>
      <p:sp>
        <p:nvSpPr>
          <p:cNvPr id="14" name="Shape 12"/>
          <p:cNvSpPr/>
          <p:nvPr/>
        </p:nvSpPr>
        <p:spPr>
          <a:xfrm>
            <a:off x="5312664" y="1600200"/>
            <a:ext cx="182880" cy="0"/>
          </a:xfrm>
          <a:prstGeom prst="line">
            <a:avLst/>
          </a:prstGeom>
          <a:noFill/>
          <a:ln w="19050">
            <a:solidFill>
              <a:srgbClr val="3B4B5C"/>
            </a:solidFill>
            <a:prstDash val="solid"/>
            <a:tailEnd type="triangle"/>
          </a:ln>
        </p:spPr>
      </p:sp>
      <p:sp>
        <p:nvSpPr>
          <p:cNvPr id="15" name="Shape 13"/>
          <p:cNvSpPr/>
          <p:nvPr/>
        </p:nvSpPr>
        <p:spPr>
          <a:xfrm>
            <a:off x="5504688" y="1188720"/>
            <a:ext cx="1481328" cy="822960"/>
          </a:xfrm>
          <a:prstGeom prst="roundRect">
            <a:avLst>
              <a:gd name="adj" fmla="val 6667"/>
            </a:avLst>
          </a:prstGeom>
          <a:solidFill>
            <a:srgbClr val="F1F4F8"/>
          </a:solidFill>
          <a:ln w="12700">
            <a:solidFill>
              <a:srgbClr val="F1F4F8"/>
            </a:solidFill>
            <a:prstDash val="solid"/>
          </a:ln>
        </p:spPr>
      </p:sp>
      <p:sp>
        <p:nvSpPr>
          <p:cNvPr id="16" name="Text 14"/>
          <p:cNvSpPr txBox="1"/>
          <p:nvPr/>
        </p:nvSpPr>
        <p:spPr>
          <a:xfrm>
            <a:off x="5504688" y="1188720"/>
            <a:ext cx="1481328" cy="822960"/>
          </a:xfrm>
          <a:prstGeom prst="rect">
            <a:avLst/>
          </a:prstGeom>
          <a:noFill/>
          <a:ln/>
        </p:spPr>
        <p:txBody>
          <a:bodyPr wrap="square" lIns="635" tIns="635" rIns="635" bIns="635" rtlCol="0" anchor="ctr"/>
          <a:lstStyle/>
          <a:p>
            <a:pPr algn="ctr" indent="0" marL="0">
              <a:buNone/>
            </a:pPr>
            <a:r>
              <a:rPr lang="en-US" sz="1050" dirty="0">
                <a:solidFill>
                  <a:srgbClr val="1B2430"/>
                </a:solidFill>
                <a:latin typeface="Calibri" pitchFamily="34" charset="0"/>
                <a:ea typeface="Calibri" pitchFamily="34" charset="-122"/>
                <a:cs typeface="Calibri" pitchFamily="34" charset="-120"/>
              </a:rPr>
              <a:t>JWT in HttpOnly</a:t>
            </a:r>
            <a:endParaRPr lang="en-US" sz="1050" dirty="0"/>
          </a:p>
          <a:p>
            <a:pPr algn="ctr" indent="0" marL="0">
              <a:buNone/>
            </a:pPr>
            <a:r>
              <a:rPr lang="en-US" sz="1050" dirty="0">
                <a:solidFill>
                  <a:srgbClr val="1B2430"/>
                </a:solidFill>
                <a:latin typeface="Calibri" pitchFamily="34" charset="0"/>
                <a:ea typeface="Calibri" pitchFamily="34" charset="-122"/>
                <a:cs typeface="Calibri" pitchFamily="34" charset="-120"/>
              </a:rPr>
              <a:t>Secure cookie</a:t>
            </a:r>
            <a:endParaRPr lang="en-US" sz="1050" dirty="0"/>
          </a:p>
        </p:txBody>
      </p:sp>
      <p:sp>
        <p:nvSpPr>
          <p:cNvPr id="17" name="Shape 15"/>
          <p:cNvSpPr/>
          <p:nvPr/>
        </p:nvSpPr>
        <p:spPr>
          <a:xfrm>
            <a:off x="6995160" y="1600200"/>
            <a:ext cx="182880" cy="0"/>
          </a:xfrm>
          <a:prstGeom prst="line">
            <a:avLst/>
          </a:prstGeom>
          <a:noFill/>
          <a:ln w="19050">
            <a:solidFill>
              <a:srgbClr val="3B4B5C"/>
            </a:solidFill>
            <a:prstDash val="solid"/>
            <a:tailEnd type="triangle"/>
          </a:ln>
        </p:spPr>
      </p:sp>
      <p:sp>
        <p:nvSpPr>
          <p:cNvPr id="18" name="Shape 16"/>
          <p:cNvSpPr/>
          <p:nvPr/>
        </p:nvSpPr>
        <p:spPr>
          <a:xfrm>
            <a:off x="7187184" y="1188720"/>
            <a:ext cx="1481328" cy="822960"/>
          </a:xfrm>
          <a:prstGeom prst="roundRect">
            <a:avLst>
              <a:gd name="adj" fmla="val 6667"/>
            </a:avLst>
          </a:prstGeom>
          <a:solidFill>
            <a:srgbClr val="F2A413"/>
          </a:solidFill>
          <a:ln w="12700">
            <a:solidFill>
              <a:srgbClr val="F2A413"/>
            </a:solidFill>
            <a:prstDash val="solid"/>
          </a:ln>
        </p:spPr>
      </p:sp>
      <p:sp>
        <p:nvSpPr>
          <p:cNvPr id="19" name="Text 17"/>
          <p:cNvSpPr txBox="1"/>
          <p:nvPr/>
        </p:nvSpPr>
        <p:spPr>
          <a:xfrm>
            <a:off x="7187184" y="1188720"/>
            <a:ext cx="1481328" cy="822960"/>
          </a:xfrm>
          <a:prstGeom prst="rect">
            <a:avLst/>
          </a:prstGeom>
          <a:noFill/>
          <a:ln/>
        </p:spPr>
        <p:txBody>
          <a:bodyPr wrap="square" lIns="635" tIns="635" rIns="635" bIns="635" rtlCol="0" anchor="ctr"/>
          <a:lstStyle/>
          <a:p>
            <a:pPr algn="ctr" indent="0" marL="0">
              <a:buNone/>
            </a:pPr>
            <a:r>
              <a:rPr lang="en-US" sz="1050" b="1" dirty="0">
                <a:solidFill>
                  <a:srgbClr val="1B2430"/>
                </a:solidFill>
                <a:latin typeface="Calibri" pitchFamily="34" charset="0"/>
                <a:ea typeface="Calibri" pitchFamily="34" charset="-122"/>
                <a:cs typeface="Calibri" pitchFamily="34" charset="-120"/>
              </a:rPr>
              <a:t>RBAC on every</a:t>
            </a:r>
            <a:endParaRPr lang="en-US" sz="1050" dirty="0"/>
          </a:p>
          <a:p>
            <a:pPr algn="ctr" indent="0" marL="0">
              <a:buNone/>
            </a:pPr>
            <a:r>
              <a:rPr lang="en-US" sz="1050" b="1" dirty="0">
                <a:solidFill>
                  <a:srgbClr val="1B2430"/>
                </a:solidFill>
                <a:latin typeface="Calibri" pitchFamily="34" charset="0"/>
                <a:ea typeface="Calibri" pitchFamily="34" charset="-122"/>
                <a:cs typeface="Calibri" pitchFamily="34" charset="-120"/>
              </a:rPr>
              <a:t>endpoint</a:t>
            </a:r>
            <a:endParaRPr lang="en-US" sz="1050" dirty="0"/>
          </a:p>
        </p:txBody>
      </p:sp>
      <p:sp>
        <p:nvSpPr>
          <p:cNvPr id="20" name="Text 18"/>
          <p:cNvSpPr txBox="1"/>
          <p:nvPr/>
        </p:nvSpPr>
        <p:spPr>
          <a:xfrm>
            <a:off x="457200" y="2286000"/>
            <a:ext cx="4937760" cy="22860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A role is never read from a request: seeded accounts keep their role, new users get VIEWER</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Logout revokes the session server-side; the frontend never stores a token</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CSRF double-submit cookie, per-scope rate limiting, strict security headers and CSP</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Fail closed: production refuses http:// callbacks or a non-Secure cookie</a:t>
            </a:r>
            <a:endParaRPr lang="en-US" sz="1250" dirty="0"/>
          </a:p>
        </p:txBody>
      </p:sp>
      <p:sp>
        <p:nvSpPr>
          <p:cNvPr id="21" name="Shape 19"/>
          <p:cNvSpPr/>
          <p:nvPr/>
        </p:nvSpPr>
        <p:spPr>
          <a:xfrm>
            <a:off x="5669280" y="2286000"/>
            <a:ext cx="3017520" cy="2286000"/>
          </a:xfrm>
          <a:prstGeom prst="roundRect">
            <a:avLst>
              <a:gd name="adj" fmla="val 3200"/>
            </a:avLst>
          </a:prstGeom>
          <a:solidFill>
            <a:srgbClr val="F1F4F8"/>
          </a:solidFill>
          <a:ln w="12700">
            <a:solidFill>
              <a:srgbClr val="F1F4F8"/>
            </a:solidFill>
            <a:prstDash val="solid"/>
          </a:ln>
        </p:spPr>
      </p:sp>
      <p:sp>
        <p:nvSpPr>
          <p:cNvPr id="22" name="Text 20"/>
          <p:cNvSpPr txBox="1"/>
          <p:nvPr/>
        </p:nvSpPr>
        <p:spPr>
          <a:xfrm>
            <a:off x="5852160" y="2395728"/>
            <a:ext cx="2743200" cy="274320"/>
          </a:xfrm>
          <a:prstGeom prst="rect">
            <a:avLst/>
          </a:prstGeom>
          <a:noFill/>
          <a:ln/>
        </p:spPr>
        <p:txBody>
          <a:bodyPr wrap="square" lIns="0" tIns="0" rIns="0" bIns="0" rtlCol="0" anchor="ctr"/>
          <a:lstStyle/>
          <a:p>
            <a:pPr indent="0" marL="0">
              <a:buNone/>
            </a:pPr>
            <a:r>
              <a:rPr lang="en-US" sz="1200" b="1" dirty="0">
                <a:solidFill>
                  <a:srgbClr val="C77F05"/>
                </a:solidFill>
                <a:latin typeface="Calibri" pitchFamily="34" charset="0"/>
                <a:ea typeface="Calibri" pitchFamily="34" charset="-122"/>
                <a:cs typeface="Calibri" pitchFamily="34" charset="-120"/>
              </a:rPr>
              <a:t>Six roles</a:t>
            </a:r>
            <a:endParaRPr lang="en-US" sz="1200" dirty="0"/>
          </a:p>
        </p:txBody>
      </p:sp>
      <p:sp>
        <p:nvSpPr>
          <p:cNvPr id="23" name="Shape 21"/>
          <p:cNvSpPr/>
          <p:nvPr/>
        </p:nvSpPr>
        <p:spPr>
          <a:xfrm>
            <a:off x="5852160" y="2798064"/>
            <a:ext cx="109728" cy="109728"/>
          </a:xfrm>
          <a:prstGeom prst="ellipse">
            <a:avLst/>
          </a:prstGeom>
          <a:solidFill>
            <a:srgbClr val="F2A413"/>
          </a:solidFill>
          <a:ln w="12700">
            <a:solidFill>
              <a:srgbClr val="F2A413"/>
            </a:solidFill>
            <a:prstDash val="solid"/>
          </a:ln>
        </p:spPr>
      </p:sp>
      <p:sp>
        <p:nvSpPr>
          <p:cNvPr id="24" name="Text 22"/>
          <p:cNvSpPr txBox="1"/>
          <p:nvPr/>
        </p:nvSpPr>
        <p:spPr>
          <a:xfrm>
            <a:off x="6053328" y="2724912"/>
            <a:ext cx="2560320" cy="27432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Administrator</a:t>
            </a:r>
            <a:endParaRPr lang="en-US" sz="1100" dirty="0"/>
          </a:p>
        </p:txBody>
      </p:sp>
      <p:sp>
        <p:nvSpPr>
          <p:cNvPr id="25" name="Shape 23"/>
          <p:cNvSpPr/>
          <p:nvPr/>
        </p:nvSpPr>
        <p:spPr>
          <a:xfrm>
            <a:off x="5852160" y="3090672"/>
            <a:ext cx="109728" cy="109728"/>
          </a:xfrm>
          <a:prstGeom prst="ellipse">
            <a:avLst/>
          </a:prstGeom>
          <a:solidFill>
            <a:srgbClr val="F2A413"/>
          </a:solidFill>
          <a:ln w="12700">
            <a:solidFill>
              <a:srgbClr val="F2A413"/>
            </a:solidFill>
            <a:prstDash val="solid"/>
          </a:ln>
        </p:spPr>
      </p:sp>
      <p:sp>
        <p:nvSpPr>
          <p:cNvPr id="26" name="Text 24"/>
          <p:cNvSpPr txBox="1"/>
          <p:nvPr/>
        </p:nvSpPr>
        <p:spPr>
          <a:xfrm>
            <a:off x="6053328" y="3017520"/>
            <a:ext cx="2560320" cy="27432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Factory Manager</a:t>
            </a:r>
            <a:endParaRPr lang="en-US" sz="1100" dirty="0"/>
          </a:p>
        </p:txBody>
      </p:sp>
      <p:sp>
        <p:nvSpPr>
          <p:cNvPr id="27" name="Shape 25"/>
          <p:cNvSpPr/>
          <p:nvPr/>
        </p:nvSpPr>
        <p:spPr>
          <a:xfrm>
            <a:off x="5852160" y="3383280"/>
            <a:ext cx="109728" cy="109728"/>
          </a:xfrm>
          <a:prstGeom prst="ellipse">
            <a:avLst/>
          </a:prstGeom>
          <a:solidFill>
            <a:srgbClr val="F2A413"/>
          </a:solidFill>
          <a:ln w="12700">
            <a:solidFill>
              <a:srgbClr val="F2A413"/>
            </a:solidFill>
            <a:prstDash val="solid"/>
          </a:ln>
        </p:spPr>
      </p:sp>
      <p:sp>
        <p:nvSpPr>
          <p:cNvPr id="28" name="Text 26"/>
          <p:cNvSpPr txBox="1"/>
          <p:nvPr/>
        </p:nvSpPr>
        <p:spPr>
          <a:xfrm>
            <a:off x="6053328" y="3310128"/>
            <a:ext cx="2560320" cy="27432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Production Supervisor</a:t>
            </a:r>
            <a:endParaRPr lang="en-US" sz="1100" dirty="0"/>
          </a:p>
        </p:txBody>
      </p:sp>
      <p:sp>
        <p:nvSpPr>
          <p:cNvPr id="29" name="Shape 27"/>
          <p:cNvSpPr/>
          <p:nvPr/>
        </p:nvSpPr>
        <p:spPr>
          <a:xfrm>
            <a:off x="5852160" y="3675888"/>
            <a:ext cx="109728" cy="109728"/>
          </a:xfrm>
          <a:prstGeom prst="ellipse">
            <a:avLst/>
          </a:prstGeom>
          <a:solidFill>
            <a:srgbClr val="F2A413"/>
          </a:solidFill>
          <a:ln w="12700">
            <a:solidFill>
              <a:srgbClr val="F2A413"/>
            </a:solidFill>
            <a:prstDash val="solid"/>
          </a:ln>
        </p:spPr>
      </p:sp>
      <p:sp>
        <p:nvSpPr>
          <p:cNvPr id="30" name="Text 28"/>
          <p:cNvSpPr txBox="1"/>
          <p:nvPr/>
        </p:nvSpPr>
        <p:spPr>
          <a:xfrm>
            <a:off x="6053328" y="3602736"/>
            <a:ext cx="2560320" cy="27432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Quality Engineer</a:t>
            </a:r>
            <a:endParaRPr lang="en-US" sz="1100" dirty="0"/>
          </a:p>
        </p:txBody>
      </p:sp>
      <p:sp>
        <p:nvSpPr>
          <p:cNvPr id="31" name="Shape 29"/>
          <p:cNvSpPr/>
          <p:nvPr/>
        </p:nvSpPr>
        <p:spPr>
          <a:xfrm>
            <a:off x="5852160" y="3968496"/>
            <a:ext cx="109728" cy="109728"/>
          </a:xfrm>
          <a:prstGeom prst="ellipse">
            <a:avLst/>
          </a:prstGeom>
          <a:solidFill>
            <a:srgbClr val="F2A413"/>
          </a:solidFill>
          <a:ln w="12700">
            <a:solidFill>
              <a:srgbClr val="F2A413"/>
            </a:solidFill>
            <a:prstDash val="solid"/>
          </a:ln>
        </p:spPr>
      </p:sp>
      <p:sp>
        <p:nvSpPr>
          <p:cNvPr id="32" name="Text 30"/>
          <p:cNvSpPr txBox="1"/>
          <p:nvPr/>
        </p:nvSpPr>
        <p:spPr>
          <a:xfrm>
            <a:off x="6053328" y="3895344"/>
            <a:ext cx="2560320" cy="27432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Inventory Manager</a:t>
            </a:r>
            <a:endParaRPr lang="en-US" sz="1100" dirty="0"/>
          </a:p>
        </p:txBody>
      </p:sp>
      <p:sp>
        <p:nvSpPr>
          <p:cNvPr id="33" name="Shape 31"/>
          <p:cNvSpPr/>
          <p:nvPr/>
        </p:nvSpPr>
        <p:spPr>
          <a:xfrm>
            <a:off x="5852160" y="4261104"/>
            <a:ext cx="109728" cy="109728"/>
          </a:xfrm>
          <a:prstGeom prst="ellipse">
            <a:avLst/>
          </a:prstGeom>
          <a:solidFill>
            <a:srgbClr val="F2A413"/>
          </a:solidFill>
          <a:ln w="12700">
            <a:solidFill>
              <a:srgbClr val="F2A413"/>
            </a:solidFill>
            <a:prstDash val="solid"/>
          </a:ln>
        </p:spPr>
      </p:sp>
      <p:sp>
        <p:nvSpPr>
          <p:cNvPr id="34" name="Text 32"/>
          <p:cNvSpPr txBox="1"/>
          <p:nvPr/>
        </p:nvSpPr>
        <p:spPr>
          <a:xfrm>
            <a:off x="6053328" y="4187952"/>
            <a:ext cx="2560320" cy="27432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Viewer (default)</a:t>
            </a:r>
            <a:endParaRPr lang="en-US" sz="1100" dirty="0"/>
          </a:p>
        </p:txBody>
      </p:sp>
      <p:sp>
        <p:nvSpPr>
          <p:cNvPr id="35" name="Text 33"/>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36" name="Text 34"/>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Frontend and dashboard UI</a:t>
            </a:r>
            <a:endParaRPr lang="en-US" sz="3000" dirty="0"/>
          </a:p>
        </p:txBody>
      </p:sp>
      <p:sp>
        <p:nvSpPr>
          <p:cNvPr id="3" name="Shape 1"/>
          <p:cNvSpPr/>
          <p:nvPr/>
        </p:nvSpPr>
        <p:spPr>
          <a:xfrm>
            <a:off x="6903720" y="384048"/>
            <a:ext cx="384048" cy="384048"/>
          </a:xfrm>
          <a:prstGeom prst="ellipse">
            <a:avLst/>
          </a:prstGeom>
          <a:solidFill>
            <a:srgbClr val="F2A413"/>
          </a:solidFill>
          <a:ln w="12700">
            <a:solidFill>
              <a:srgbClr val="F2A413"/>
            </a:solidFill>
            <a:prstDash val="solid"/>
          </a:ln>
        </p:spPr>
      </p:sp>
      <p:sp>
        <p:nvSpPr>
          <p:cNvPr id="4" name="Text 2"/>
          <p:cNvSpPr txBox="1"/>
          <p:nvPr/>
        </p:nvSpPr>
        <p:spPr>
          <a:xfrm>
            <a:off x="6903720" y="384048"/>
            <a:ext cx="384048" cy="384048"/>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4</a:t>
            </a:r>
            <a:endParaRPr lang="en-US" sz="1400" dirty="0"/>
          </a:p>
        </p:txBody>
      </p:sp>
      <p:sp>
        <p:nvSpPr>
          <p:cNvPr id="5" name="Text 3"/>
          <p:cNvSpPr txBox="1"/>
          <p:nvPr/>
        </p:nvSpPr>
        <p:spPr>
          <a:xfrm>
            <a:off x="7360920" y="347472"/>
            <a:ext cx="1371600" cy="45720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Presenter 4</a:t>
            </a:r>
            <a:endParaRPr lang="en-US" sz="1200" dirty="0"/>
          </a:p>
          <a:p>
            <a:pPr indent="0" marL="0">
              <a:buNone/>
            </a:pPr>
            <a:r>
              <a:rPr lang="en-US" sz="1000" dirty="0">
                <a:solidFill>
                  <a:srgbClr val="6B7A89"/>
                </a:solidFill>
                <a:latin typeface="Calibri" pitchFamily="34" charset="0"/>
                <a:ea typeface="Calibri" pitchFamily="34" charset="-122"/>
                <a:cs typeface="Calibri" pitchFamily="34" charset="-120"/>
              </a:rPr>
              <a:t>Frontend &amp; UI</a:t>
            </a:r>
            <a:endParaRPr lang="en-US" sz="1200" dirty="0"/>
          </a:p>
        </p:txBody>
      </p:sp>
      <p:sp>
        <p:nvSpPr>
          <p:cNvPr id="6" name="Text 4"/>
          <p:cNvSpPr txBox="1"/>
          <p:nvPr/>
        </p:nvSpPr>
        <p:spPr>
          <a:xfrm>
            <a:off x="457200" y="1143000"/>
            <a:ext cx="4937760" cy="283464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Next.js 16 App Router, React 19, TypeScript, Tailwind CSS 4</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One Axios client, 8 typed API modules, TanStack Query with a cache-tier key registry</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Reusable app shell: sidebar, page header, user menu, session-expiry handling</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Server-driven tables (pagination, sorting) and URL-synchronised filters, so any view is shareable</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Recharts wrapped in an accessible ChartFrame with text alternatives; heading order and names tested</a:t>
            </a:r>
            <a:endParaRPr lang="en-US" sz="1250" dirty="0"/>
          </a:p>
        </p:txBody>
      </p:sp>
      <p:sp>
        <p:nvSpPr>
          <p:cNvPr id="7" name="Shape 5"/>
          <p:cNvSpPr/>
          <p:nvPr/>
        </p:nvSpPr>
        <p:spPr>
          <a:xfrm>
            <a:off x="5669280" y="1143000"/>
            <a:ext cx="3017520" cy="3520440"/>
          </a:xfrm>
          <a:prstGeom prst="roundRect">
            <a:avLst>
              <a:gd name="adj" fmla="val 2424"/>
            </a:avLst>
          </a:prstGeom>
          <a:solidFill>
            <a:srgbClr val="F1F4F8"/>
          </a:solidFill>
          <a:ln w="12700">
            <a:solidFill>
              <a:srgbClr val="F1F4F8"/>
            </a:solidFill>
            <a:prstDash val="solid"/>
          </a:ln>
        </p:spPr>
      </p:sp>
      <p:sp>
        <p:nvSpPr>
          <p:cNvPr id="8" name="Text 6"/>
          <p:cNvSpPr txBox="1"/>
          <p:nvPr/>
        </p:nvSpPr>
        <p:spPr>
          <a:xfrm>
            <a:off x="5852160" y="1261872"/>
            <a:ext cx="2743200" cy="274320"/>
          </a:xfrm>
          <a:prstGeom prst="rect">
            <a:avLst/>
          </a:prstGeom>
          <a:noFill/>
          <a:ln/>
        </p:spPr>
        <p:txBody>
          <a:bodyPr wrap="square" lIns="0" tIns="0" rIns="0" bIns="0" rtlCol="0" anchor="ctr"/>
          <a:lstStyle/>
          <a:p>
            <a:pPr indent="0" marL="0">
              <a:buNone/>
            </a:pPr>
            <a:r>
              <a:rPr lang="en-US" sz="1200" b="1" dirty="0">
                <a:solidFill>
                  <a:srgbClr val="C77F05"/>
                </a:solidFill>
                <a:latin typeface="Calibri" pitchFamily="34" charset="0"/>
                <a:ea typeface="Calibri" pitchFamily="34" charset="-122"/>
                <a:cs typeface="Calibri" pitchFamily="34" charset="-120"/>
              </a:rPr>
              <a:t>Login + 9 authenticated routes</a:t>
            </a:r>
            <a:endParaRPr lang="en-US" sz="1200" dirty="0"/>
          </a:p>
        </p:txBody>
      </p:sp>
      <p:sp>
        <p:nvSpPr>
          <p:cNvPr id="9" name="Shape 7"/>
          <p:cNvSpPr/>
          <p:nvPr/>
        </p:nvSpPr>
        <p:spPr>
          <a:xfrm>
            <a:off x="5852160" y="1645920"/>
            <a:ext cx="1325880" cy="438912"/>
          </a:xfrm>
          <a:prstGeom prst="roundRect">
            <a:avLst>
              <a:gd name="adj" fmla="val 10417"/>
            </a:avLst>
          </a:prstGeom>
          <a:solidFill>
            <a:srgbClr val="FFFFFF"/>
          </a:solidFill>
          <a:ln w="9525">
            <a:solidFill>
              <a:srgbClr val="D5DCE4"/>
            </a:solidFill>
            <a:prstDash val="solid"/>
          </a:ln>
        </p:spPr>
      </p:sp>
      <p:sp>
        <p:nvSpPr>
          <p:cNvPr id="10" name="Text 8"/>
          <p:cNvSpPr txBox="1"/>
          <p:nvPr/>
        </p:nvSpPr>
        <p:spPr>
          <a:xfrm>
            <a:off x="5852160" y="1645920"/>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/login</a:t>
            </a:r>
            <a:endParaRPr lang="en-US" sz="1000" dirty="0"/>
          </a:p>
        </p:txBody>
      </p:sp>
      <p:sp>
        <p:nvSpPr>
          <p:cNvPr id="11" name="Shape 9"/>
          <p:cNvSpPr/>
          <p:nvPr/>
        </p:nvSpPr>
        <p:spPr>
          <a:xfrm>
            <a:off x="7269480" y="1645920"/>
            <a:ext cx="1325880" cy="438912"/>
          </a:xfrm>
          <a:prstGeom prst="roundRect">
            <a:avLst>
              <a:gd name="adj" fmla="val 10417"/>
            </a:avLst>
          </a:prstGeom>
          <a:solidFill>
            <a:srgbClr val="FFFFFF"/>
          </a:solidFill>
          <a:ln w="9525">
            <a:solidFill>
              <a:srgbClr val="D5DCE4"/>
            </a:solidFill>
            <a:prstDash val="solid"/>
          </a:ln>
        </p:spPr>
      </p:sp>
      <p:sp>
        <p:nvSpPr>
          <p:cNvPr id="12" name="Text 10"/>
          <p:cNvSpPr txBox="1"/>
          <p:nvPr/>
        </p:nvSpPr>
        <p:spPr>
          <a:xfrm>
            <a:off x="7269480" y="1645920"/>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/dashboard</a:t>
            </a:r>
            <a:endParaRPr lang="en-US" sz="1000" dirty="0"/>
          </a:p>
        </p:txBody>
      </p:sp>
      <p:sp>
        <p:nvSpPr>
          <p:cNvPr id="13" name="Shape 11"/>
          <p:cNvSpPr/>
          <p:nvPr/>
        </p:nvSpPr>
        <p:spPr>
          <a:xfrm>
            <a:off x="5852160" y="2212848"/>
            <a:ext cx="1325880" cy="438912"/>
          </a:xfrm>
          <a:prstGeom prst="roundRect">
            <a:avLst>
              <a:gd name="adj" fmla="val 10417"/>
            </a:avLst>
          </a:prstGeom>
          <a:solidFill>
            <a:srgbClr val="FFFFFF"/>
          </a:solidFill>
          <a:ln w="9525">
            <a:solidFill>
              <a:srgbClr val="D5DCE4"/>
            </a:solidFill>
            <a:prstDash val="solid"/>
          </a:ln>
        </p:spPr>
      </p:sp>
      <p:sp>
        <p:nvSpPr>
          <p:cNvPr id="14" name="Text 12"/>
          <p:cNvSpPr txBox="1"/>
          <p:nvPr/>
        </p:nvSpPr>
        <p:spPr>
          <a:xfrm>
            <a:off x="5852160" y="2212848"/>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/production</a:t>
            </a:r>
            <a:endParaRPr lang="en-US" sz="1000" dirty="0"/>
          </a:p>
        </p:txBody>
      </p:sp>
      <p:sp>
        <p:nvSpPr>
          <p:cNvPr id="15" name="Shape 13"/>
          <p:cNvSpPr/>
          <p:nvPr/>
        </p:nvSpPr>
        <p:spPr>
          <a:xfrm>
            <a:off x="7269480" y="2212848"/>
            <a:ext cx="1325880" cy="438912"/>
          </a:xfrm>
          <a:prstGeom prst="roundRect">
            <a:avLst>
              <a:gd name="adj" fmla="val 10417"/>
            </a:avLst>
          </a:prstGeom>
          <a:solidFill>
            <a:srgbClr val="FFFFFF"/>
          </a:solidFill>
          <a:ln w="9525">
            <a:solidFill>
              <a:srgbClr val="D5DCE4"/>
            </a:solidFill>
            <a:prstDash val="solid"/>
          </a:ln>
        </p:spPr>
      </p:sp>
      <p:sp>
        <p:nvSpPr>
          <p:cNvPr id="16" name="Text 14"/>
          <p:cNvSpPr txBox="1"/>
          <p:nvPr/>
        </p:nvSpPr>
        <p:spPr>
          <a:xfrm>
            <a:off x="7269480" y="2212848"/>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/quality</a:t>
            </a:r>
            <a:endParaRPr lang="en-US" sz="1000" dirty="0"/>
          </a:p>
        </p:txBody>
      </p:sp>
      <p:sp>
        <p:nvSpPr>
          <p:cNvPr id="17" name="Shape 15"/>
          <p:cNvSpPr/>
          <p:nvPr/>
        </p:nvSpPr>
        <p:spPr>
          <a:xfrm>
            <a:off x="5852160" y="2779776"/>
            <a:ext cx="1325880" cy="438912"/>
          </a:xfrm>
          <a:prstGeom prst="roundRect">
            <a:avLst>
              <a:gd name="adj" fmla="val 10417"/>
            </a:avLst>
          </a:prstGeom>
          <a:solidFill>
            <a:srgbClr val="FFFFFF"/>
          </a:solidFill>
          <a:ln w="9525">
            <a:solidFill>
              <a:srgbClr val="D5DCE4"/>
            </a:solidFill>
            <a:prstDash val="solid"/>
          </a:ln>
        </p:spPr>
      </p:sp>
      <p:sp>
        <p:nvSpPr>
          <p:cNvPr id="18" name="Text 16"/>
          <p:cNvSpPr txBox="1"/>
          <p:nvPr/>
        </p:nvSpPr>
        <p:spPr>
          <a:xfrm>
            <a:off x="5852160" y="2779776"/>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/inventory</a:t>
            </a:r>
            <a:endParaRPr lang="en-US" sz="1000" dirty="0"/>
          </a:p>
        </p:txBody>
      </p:sp>
      <p:sp>
        <p:nvSpPr>
          <p:cNvPr id="19" name="Shape 17"/>
          <p:cNvSpPr/>
          <p:nvPr/>
        </p:nvSpPr>
        <p:spPr>
          <a:xfrm>
            <a:off x="7269480" y="2779776"/>
            <a:ext cx="1325880" cy="438912"/>
          </a:xfrm>
          <a:prstGeom prst="roundRect">
            <a:avLst>
              <a:gd name="adj" fmla="val 10417"/>
            </a:avLst>
          </a:prstGeom>
          <a:solidFill>
            <a:srgbClr val="FFFFFF"/>
          </a:solidFill>
          <a:ln w="9525">
            <a:solidFill>
              <a:srgbClr val="D5DCE4"/>
            </a:solidFill>
            <a:prstDash val="solid"/>
          </a:ln>
        </p:spPr>
      </p:sp>
      <p:sp>
        <p:nvSpPr>
          <p:cNvPr id="20" name="Text 18"/>
          <p:cNvSpPr txBox="1"/>
          <p:nvPr/>
        </p:nvSpPr>
        <p:spPr>
          <a:xfrm>
            <a:off x="7269480" y="2779776"/>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/inventory/[id]</a:t>
            </a:r>
            <a:endParaRPr lang="en-US" sz="1000" dirty="0"/>
          </a:p>
        </p:txBody>
      </p:sp>
      <p:sp>
        <p:nvSpPr>
          <p:cNvPr id="21" name="Shape 19"/>
          <p:cNvSpPr/>
          <p:nvPr/>
        </p:nvSpPr>
        <p:spPr>
          <a:xfrm>
            <a:off x="5852160" y="3346704"/>
            <a:ext cx="1325880" cy="438912"/>
          </a:xfrm>
          <a:prstGeom prst="roundRect">
            <a:avLst>
              <a:gd name="adj" fmla="val 10417"/>
            </a:avLst>
          </a:prstGeom>
          <a:solidFill>
            <a:srgbClr val="FFFFFF"/>
          </a:solidFill>
          <a:ln w="9525">
            <a:solidFill>
              <a:srgbClr val="D5DCE4"/>
            </a:solidFill>
            <a:prstDash val="solid"/>
          </a:ln>
        </p:spPr>
      </p:sp>
      <p:sp>
        <p:nvSpPr>
          <p:cNvPr id="22" name="Text 20"/>
          <p:cNvSpPr txBox="1"/>
          <p:nvPr/>
        </p:nvSpPr>
        <p:spPr>
          <a:xfrm>
            <a:off x="5852160" y="3346704"/>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/machines</a:t>
            </a:r>
            <a:endParaRPr lang="en-US" sz="1000" dirty="0"/>
          </a:p>
        </p:txBody>
      </p:sp>
      <p:sp>
        <p:nvSpPr>
          <p:cNvPr id="23" name="Shape 21"/>
          <p:cNvSpPr/>
          <p:nvPr/>
        </p:nvSpPr>
        <p:spPr>
          <a:xfrm>
            <a:off x="7269480" y="3346704"/>
            <a:ext cx="1325880" cy="438912"/>
          </a:xfrm>
          <a:prstGeom prst="roundRect">
            <a:avLst>
              <a:gd name="adj" fmla="val 10417"/>
            </a:avLst>
          </a:prstGeom>
          <a:solidFill>
            <a:srgbClr val="FFFFFF"/>
          </a:solidFill>
          <a:ln w="9525">
            <a:solidFill>
              <a:srgbClr val="D5DCE4"/>
            </a:solidFill>
            <a:prstDash val="solid"/>
          </a:ln>
        </p:spPr>
      </p:sp>
      <p:sp>
        <p:nvSpPr>
          <p:cNvPr id="24" name="Text 22"/>
          <p:cNvSpPr txBox="1"/>
          <p:nvPr/>
        </p:nvSpPr>
        <p:spPr>
          <a:xfrm>
            <a:off x="7269480" y="3346704"/>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/analytics</a:t>
            </a:r>
            <a:endParaRPr lang="en-US" sz="1000" dirty="0"/>
          </a:p>
        </p:txBody>
      </p:sp>
      <p:sp>
        <p:nvSpPr>
          <p:cNvPr id="25" name="Shape 23"/>
          <p:cNvSpPr/>
          <p:nvPr/>
        </p:nvSpPr>
        <p:spPr>
          <a:xfrm>
            <a:off x="5852160" y="3913632"/>
            <a:ext cx="1325880" cy="438912"/>
          </a:xfrm>
          <a:prstGeom prst="roundRect">
            <a:avLst>
              <a:gd name="adj" fmla="val 10417"/>
            </a:avLst>
          </a:prstGeom>
          <a:solidFill>
            <a:srgbClr val="FFFFFF"/>
          </a:solidFill>
          <a:ln w="9525">
            <a:solidFill>
              <a:srgbClr val="D5DCE4"/>
            </a:solidFill>
            <a:prstDash val="solid"/>
          </a:ln>
        </p:spPr>
      </p:sp>
      <p:sp>
        <p:nvSpPr>
          <p:cNvPr id="26" name="Text 24"/>
          <p:cNvSpPr txBox="1"/>
          <p:nvPr/>
        </p:nvSpPr>
        <p:spPr>
          <a:xfrm>
            <a:off x="5852160" y="3913632"/>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/alerts</a:t>
            </a:r>
            <a:endParaRPr lang="en-US" sz="1000" dirty="0"/>
          </a:p>
        </p:txBody>
      </p:sp>
      <p:sp>
        <p:nvSpPr>
          <p:cNvPr id="27" name="Shape 25"/>
          <p:cNvSpPr/>
          <p:nvPr/>
        </p:nvSpPr>
        <p:spPr>
          <a:xfrm>
            <a:off x="7269480" y="3913632"/>
            <a:ext cx="1325880" cy="438912"/>
          </a:xfrm>
          <a:prstGeom prst="roundRect">
            <a:avLst>
              <a:gd name="adj" fmla="val 10417"/>
            </a:avLst>
          </a:prstGeom>
          <a:solidFill>
            <a:srgbClr val="FFFFFF"/>
          </a:solidFill>
          <a:ln w="9525">
            <a:solidFill>
              <a:srgbClr val="D5DCE4"/>
            </a:solidFill>
            <a:prstDash val="solid"/>
          </a:ln>
        </p:spPr>
      </p:sp>
      <p:sp>
        <p:nvSpPr>
          <p:cNvPr id="28" name="Text 26"/>
          <p:cNvSpPr txBox="1"/>
          <p:nvPr/>
        </p:nvSpPr>
        <p:spPr>
          <a:xfrm>
            <a:off x="7269480" y="3913632"/>
            <a:ext cx="1325880" cy="438912"/>
          </a:xfrm>
          <a:prstGeom prst="rect">
            <a:avLst/>
          </a:prstGeom>
          <a:noFill/>
          <a:ln/>
        </p:spPr>
        <p:txBody>
          <a:bodyPr wrap="square" lIns="0" tIns="0" rIns="0" bIns="0" rtlCol="0" anchor="ctr"/>
          <a:lstStyle/>
          <a:p>
            <a:pPr algn="ctr" indent="0" marL="0">
              <a:buNone/>
            </a:pPr>
            <a:r>
              <a:rPr lang="en-US" sz="1000" dirty="0">
                <a:solidFill>
                  <a:srgbClr val="1B2430"/>
                </a:solidFill>
                <a:latin typeface="Consolas" pitchFamily="34" charset="0"/>
                <a:ea typeface="Consolas" pitchFamily="34" charset="-122"/>
                <a:cs typeface="Consolas" pitchFamily="34" charset="-120"/>
              </a:rPr>
              <a:t>/maintenance</a:t>
            </a:r>
            <a:endParaRPr lang="en-US" sz="1000" dirty="0"/>
          </a:p>
        </p:txBody>
      </p:sp>
      <p:sp>
        <p:nvSpPr>
          <p:cNvPr id="29" name="Text 27"/>
          <p:cNvSpPr txBox="1"/>
          <p:nvPr/>
        </p:nvSpPr>
        <p:spPr>
          <a:xfrm>
            <a:off x="457200" y="3840480"/>
            <a:ext cx="146304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201</a:t>
            </a:r>
            <a:endParaRPr lang="en-US" sz="3600" dirty="0"/>
          </a:p>
        </p:txBody>
      </p:sp>
      <p:sp>
        <p:nvSpPr>
          <p:cNvPr id="30" name="Text 28"/>
          <p:cNvSpPr txBox="1"/>
          <p:nvPr/>
        </p:nvSpPr>
        <p:spPr>
          <a:xfrm>
            <a:off x="457200" y="4498848"/>
            <a:ext cx="146304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frontend tests</a:t>
            </a:r>
            <a:endParaRPr lang="en-US" sz="1100" dirty="0"/>
          </a:p>
        </p:txBody>
      </p:sp>
      <p:sp>
        <p:nvSpPr>
          <p:cNvPr id="31" name="Text 29"/>
          <p:cNvSpPr txBox="1"/>
          <p:nvPr/>
        </p:nvSpPr>
        <p:spPr>
          <a:xfrm>
            <a:off x="1920240" y="3840480"/>
            <a:ext cx="219456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0</a:t>
            </a:r>
            <a:endParaRPr lang="en-US" sz="3600" dirty="0"/>
          </a:p>
        </p:txBody>
      </p:sp>
      <p:sp>
        <p:nvSpPr>
          <p:cNvPr id="32" name="Text 30"/>
          <p:cNvSpPr txBox="1"/>
          <p:nvPr/>
        </p:nvSpPr>
        <p:spPr>
          <a:xfrm>
            <a:off x="1920240" y="4498848"/>
            <a:ext cx="219456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tokens in browser storage</a:t>
            </a:r>
            <a:endParaRPr lang="en-US" sz="1100" dirty="0"/>
          </a:p>
        </p:txBody>
      </p:sp>
      <p:sp>
        <p:nvSpPr>
          <p:cNvPr id="33" name="Text 31"/>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34" name="Text 32"/>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Integration, testing and deployment</a:t>
            </a:r>
            <a:endParaRPr lang="en-US" sz="3000" dirty="0"/>
          </a:p>
        </p:txBody>
      </p:sp>
      <p:sp>
        <p:nvSpPr>
          <p:cNvPr id="3" name="Shape 1"/>
          <p:cNvSpPr/>
          <p:nvPr/>
        </p:nvSpPr>
        <p:spPr>
          <a:xfrm>
            <a:off x="6903720" y="384048"/>
            <a:ext cx="384048" cy="384048"/>
          </a:xfrm>
          <a:prstGeom prst="ellipse">
            <a:avLst/>
          </a:prstGeom>
          <a:solidFill>
            <a:srgbClr val="F2A413"/>
          </a:solidFill>
          <a:ln w="12700">
            <a:solidFill>
              <a:srgbClr val="F2A413"/>
            </a:solidFill>
            <a:prstDash val="solid"/>
          </a:ln>
        </p:spPr>
      </p:sp>
      <p:sp>
        <p:nvSpPr>
          <p:cNvPr id="4" name="Text 2"/>
          <p:cNvSpPr txBox="1"/>
          <p:nvPr/>
        </p:nvSpPr>
        <p:spPr>
          <a:xfrm>
            <a:off x="6903720" y="384048"/>
            <a:ext cx="384048" cy="384048"/>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5</a:t>
            </a:r>
            <a:endParaRPr lang="en-US" sz="1400" dirty="0"/>
          </a:p>
        </p:txBody>
      </p:sp>
      <p:sp>
        <p:nvSpPr>
          <p:cNvPr id="5" name="Text 3"/>
          <p:cNvSpPr txBox="1"/>
          <p:nvPr/>
        </p:nvSpPr>
        <p:spPr>
          <a:xfrm>
            <a:off x="7360920" y="347472"/>
            <a:ext cx="1371600" cy="45720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Presenter 5</a:t>
            </a:r>
            <a:endParaRPr lang="en-US" sz="1200" dirty="0"/>
          </a:p>
          <a:p>
            <a:pPr indent="0" marL="0">
              <a:buNone/>
            </a:pPr>
            <a:r>
              <a:rPr lang="en-US" sz="1000" dirty="0">
                <a:solidFill>
                  <a:srgbClr val="6B7A89"/>
                </a:solidFill>
                <a:latin typeface="Calibri" pitchFamily="34" charset="0"/>
                <a:ea typeface="Calibri" pitchFamily="34" charset="-122"/>
                <a:cs typeface="Calibri" pitchFamily="34" charset="-120"/>
              </a:rPr>
              <a:t>Integration &amp; Delivery</a:t>
            </a:r>
            <a:endParaRPr lang="en-US" sz="1200" dirty="0"/>
          </a:p>
        </p:txBody>
      </p:sp>
      <p:sp>
        <p:nvSpPr>
          <p:cNvPr id="6" name="Text 4"/>
          <p:cNvSpPr txBox="1"/>
          <p:nvPr/>
        </p:nvSpPr>
        <p:spPr>
          <a:xfrm>
            <a:off x="457200" y="1143000"/>
            <a:ext cx="182880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466</a:t>
            </a:r>
            <a:endParaRPr lang="en-US" sz="3600" dirty="0"/>
          </a:p>
        </p:txBody>
      </p:sp>
      <p:sp>
        <p:nvSpPr>
          <p:cNvPr id="7" name="Text 5"/>
          <p:cNvSpPr txBox="1"/>
          <p:nvPr/>
        </p:nvSpPr>
        <p:spPr>
          <a:xfrm>
            <a:off x="457200" y="1801368"/>
            <a:ext cx="182880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backend unit tests</a:t>
            </a:r>
            <a:endParaRPr lang="en-US" sz="1100" dirty="0"/>
          </a:p>
        </p:txBody>
      </p:sp>
      <p:sp>
        <p:nvSpPr>
          <p:cNvPr id="8" name="Text 6"/>
          <p:cNvSpPr txBox="1"/>
          <p:nvPr/>
        </p:nvSpPr>
        <p:spPr>
          <a:xfrm>
            <a:off x="2377440" y="1143000"/>
            <a:ext cx="182880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201</a:t>
            </a:r>
            <a:endParaRPr lang="en-US" sz="3600" dirty="0"/>
          </a:p>
        </p:txBody>
      </p:sp>
      <p:sp>
        <p:nvSpPr>
          <p:cNvPr id="9" name="Text 7"/>
          <p:cNvSpPr txBox="1"/>
          <p:nvPr/>
        </p:nvSpPr>
        <p:spPr>
          <a:xfrm>
            <a:off x="2377440" y="1801368"/>
            <a:ext cx="182880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frontend tests</a:t>
            </a:r>
            <a:endParaRPr lang="en-US" sz="1100" dirty="0"/>
          </a:p>
        </p:txBody>
      </p:sp>
      <p:sp>
        <p:nvSpPr>
          <p:cNvPr id="10" name="Text 8"/>
          <p:cNvSpPr txBox="1"/>
          <p:nvPr/>
        </p:nvSpPr>
        <p:spPr>
          <a:xfrm>
            <a:off x="4297680" y="1143000"/>
            <a:ext cx="182880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25</a:t>
            </a:r>
            <a:endParaRPr lang="en-US" sz="3600" dirty="0"/>
          </a:p>
        </p:txBody>
      </p:sp>
      <p:sp>
        <p:nvSpPr>
          <p:cNvPr id="11" name="Text 9"/>
          <p:cNvSpPr txBox="1"/>
          <p:nvPr/>
        </p:nvSpPr>
        <p:spPr>
          <a:xfrm>
            <a:off x="4297680" y="1801368"/>
            <a:ext cx="182880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live database tests</a:t>
            </a:r>
            <a:endParaRPr lang="en-US" sz="1100" dirty="0"/>
          </a:p>
        </p:txBody>
      </p:sp>
      <p:sp>
        <p:nvSpPr>
          <p:cNvPr id="12" name="Text 10"/>
          <p:cNvSpPr txBox="1"/>
          <p:nvPr/>
        </p:nvSpPr>
        <p:spPr>
          <a:xfrm>
            <a:off x="6217920" y="1143000"/>
            <a:ext cx="2011680" cy="640080"/>
          </a:xfrm>
          <a:prstGeom prst="rect">
            <a:avLst/>
          </a:prstGeom>
          <a:noFill/>
          <a:ln/>
        </p:spPr>
        <p:txBody>
          <a:bodyPr wrap="square" lIns="0" tIns="0" rIns="0" bIns="0" rtlCol="0" anchor="b"/>
          <a:lstStyle/>
          <a:p>
            <a:pPr indent="0" marL="0">
              <a:buNone/>
            </a:pPr>
            <a:r>
              <a:rPr lang="en-US" sz="3600" b="1" dirty="0">
                <a:solidFill>
                  <a:srgbClr val="1B2430"/>
                </a:solidFill>
                <a:latin typeface="Calibri" pitchFamily="34" charset="0"/>
                <a:ea typeface="Calibri" pitchFamily="34" charset="-122"/>
                <a:cs typeface="Calibri" pitchFamily="34" charset="-120"/>
              </a:rPr>
              <a:t>211</a:t>
            </a:r>
            <a:endParaRPr lang="en-US" sz="3600" dirty="0"/>
          </a:p>
        </p:txBody>
      </p:sp>
      <p:sp>
        <p:nvSpPr>
          <p:cNvPr id="13" name="Text 11"/>
          <p:cNvSpPr txBox="1"/>
          <p:nvPr/>
        </p:nvSpPr>
        <p:spPr>
          <a:xfrm>
            <a:off x="6217920" y="1801368"/>
            <a:ext cx="2011680" cy="365760"/>
          </a:xfrm>
          <a:prstGeom prst="rect">
            <a:avLst/>
          </a:prstGeom>
          <a:noFill/>
          <a:ln/>
        </p:spPr>
        <p:txBody>
          <a:bodyPr wrap="square" lIns="0" tIns="0" rIns="0" bIns="0" rtlCol="0" anchor="t"/>
          <a:lstStyle/>
          <a:p>
            <a:pPr indent="0" marL="0">
              <a:buNone/>
            </a:pPr>
            <a:r>
              <a:rPr lang="en-US" sz="1100" dirty="0">
                <a:solidFill>
                  <a:srgbClr val="6B7A89"/>
                </a:solidFill>
                <a:latin typeface="Calibri" pitchFamily="34" charset="0"/>
                <a:ea typeface="Calibri" pitchFamily="34" charset="-122"/>
                <a:cs typeface="Calibri" pitchFamily="34" charset="-120"/>
              </a:rPr>
              <a:t>live API checks</a:t>
            </a:r>
            <a:endParaRPr lang="en-US" sz="1100" dirty="0"/>
          </a:p>
        </p:txBody>
      </p:sp>
      <p:sp>
        <p:nvSpPr>
          <p:cNvPr id="14" name="Text 12"/>
          <p:cNvSpPr txBox="1"/>
          <p:nvPr/>
        </p:nvSpPr>
        <p:spPr>
          <a:xfrm>
            <a:off x="457200" y="2377440"/>
            <a:ext cx="4937760" cy="201168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No external service needed for the unit suites: fakes for services, an in-memory Redis stand-in, SQL parsed with the real PostgreSQL grammar</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Live checks cover the API contract, RBAC, caching, rate limiting, injection, CSRF and open-redirect cases</a:t>
            </a:r>
            <a:endParaRPr lang="en-US" sz="1250" dirty="0"/>
          </a:p>
          <a:p>
            <a:pPr marL="177800" indent="-177800">
              <a:spcAft>
                <a:spcPts val="600"/>
              </a:spcAft>
              <a:buSzPct val="100000"/>
              <a:buChar char="•"/>
            </a:pPr>
            <a:r>
              <a:rPr lang="en-US" sz="1250" dirty="0">
                <a:solidFill>
                  <a:srgbClr val="1B2430"/>
                </a:solidFill>
                <a:latin typeface="Calibri" pitchFamily="34" charset="0"/>
                <a:ea typeface="Calibri" pitchFamily="34" charset="-122"/>
                <a:cs typeface="Calibri" pitchFamily="34" charset="-120"/>
              </a:rPr>
              <a:t>Seven integration defects found and fixed during end-to-end verification</a:t>
            </a:r>
            <a:endParaRPr lang="en-US" sz="1250" dirty="0"/>
          </a:p>
        </p:txBody>
      </p:sp>
      <p:sp>
        <p:nvSpPr>
          <p:cNvPr id="15" name="Shape 13"/>
          <p:cNvSpPr/>
          <p:nvPr/>
        </p:nvSpPr>
        <p:spPr>
          <a:xfrm>
            <a:off x="5669280" y="2377440"/>
            <a:ext cx="3017520" cy="2194560"/>
          </a:xfrm>
          <a:prstGeom prst="roundRect">
            <a:avLst>
              <a:gd name="adj" fmla="val 3333"/>
            </a:avLst>
          </a:prstGeom>
          <a:solidFill>
            <a:srgbClr val="F1F4F8"/>
          </a:solidFill>
          <a:ln w="12700">
            <a:solidFill>
              <a:srgbClr val="F1F4F8"/>
            </a:solidFill>
            <a:prstDash val="solid"/>
          </a:ln>
        </p:spPr>
      </p:sp>
      <p:sp>
        <p:nvSpPr>
          <p:cNvPr id="16" name="Text 14"/>
          <p:cNvSpPr txBox="1"/>
          <p:nvPr/>
        </p:nvSpPr>
        <p:spPr>
          <a:xfrm>
            <a:off x="5852160" y="2487168"/>
            <a:ext cx="2743200" cy="274320"/>
          </a:xfrm>
          <a:prstGeom prst="rect">
            <a:avLst/>
          </a:prstGeom>
          <a:noFill/>
          <a:ln/>
        </p:spPr>
        <p:txBody>
          <a:bodyPr wrap="square" lIns="0" tIns="0" rIns="0" bIns="0" rtlCol="0" anchor="ctr"/>
          <a:lstStyle/>
          <a:p>
            <a:pPr indent="0" marL="0">
              <a:buNone/>
            </a:pPr>
            <a:r>
              <a:rPr lang="en-US" sz="1200" b="1" dirty="0">
                <a:solidFill>
                  <a:srgbClr val="C77F05"/>
                </a:solidFill>
                <a:latin typeface="Calibri" pitchFamily="34" charset="0"/>
                <a:ea typeface="Calibri" pitchFamily="34" charset="-122"/>
                <a:cs typeface="Calibri" pitchFamily="34" charset="-120"/>
              </a:rPr>
              <a:t>Where it runs</a:t>
            </a:r>
            <a:endParaRPr lang="en-US" sz="1200" dirty="0"/>
          </a:p>
        </p:txBody>
      </p:sp>
      <p:sp>
        <p:nvSpPr>
          <p:cNvPr id="17" name="Text 15"/>
          <p:cNvSpPr txBox="1"/>
          <p:nvPr/>
        </p:nvSpPr>
        <p:spPr>
          <a:xfrm>
            <a:off x="5852160" y="2834640"/>
            <a:ext cx="822960" cy="384048"/>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Vercel</a:t>
            </a:r>
            <a:endParaRPr lang="en-US" sz="1100" dirty="0"/>
          </a:p>
        </p:txBody>
      </p:sp>
      <p:sp>
        <p:nvSpPr>
          <p:cNvPr id="18" name="Text 16"/>
          <p:cNvSpPr txBox="1"/>
          <p:nvPr/>
        </p:nvSpPr>
        <p:spPr>
          <a:xfrm>
            <a:off x="6675120" y="2834640"/>
            <a:ext cx="1920240" cy="38404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Next.js frontend, proxies /api/*</a:t>
            </a:r>
            <a:endParaRPr lang="en-US" sz="1000" dirty="0"/>
          </a:p>
        </p:txBody>
      </p:sp>
      <p:sp>
        <p:nvSpPr>
          <p:cNvPr id="19" name="Text 17"/>
          <p:cNvSpPr txBox="1"/>
          <p:nvPr/>
        </p:nvSpPr>
        <p:spPr>
          <a:xfrm>
            <a:off x="5852160" y="3246120"/>
            <a:ext cx="822960" cy="384048"/>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Render</a:t>
            </a:r>
            <a:endParaRPr lang="en-US" sz="1100" dirty="0"/>
          </a:p>
        </p:txBody>
      </p:sp>
      <p:sp>
        <p:nvSpPr>
          <p:cNvPr id="20" name="Text 18"/>
          <p:cNvSpPr txBox="1"/>
          <p:nvPr/>
        </p:nvSpPr>
        <p:spPr>
          <a:xfrm>
            <a:off x="6675120" y="3246120"/>
            <a:ext cx="1920240" cy="38404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FastAPI backend</a:t>
            </a:r>
            <a:endParaRPr lang="en-US" sz="1000" dirty="0"/>
          </a:p>
        </p:txBody>
      </p:sp>
      <p:sp>
        <p:nvSpPr>
          <p:cNvPr id="21" name="Text 19"/>
          <p:cNvSpPr txBox="1"/>
          <p:nvPr/>
        </p:nvSpPr>
        <p:spPr>
          <a:xfrm>
            <a:off x="5852160" y="3657600"/>
            <a:ext cx="822960" cy="384048"/>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Supabase</a:t>
            </a:r>
            <a:endParaRPr lang="en-US" sz="1100" dirty="0"/>
          </a:p>
        </p:txBody>
      </p:sp>
      <p:sp>
        <p:nvSpPr>
          <p:cNvPr id="22" name="Text 20"/>
          <p:cNvSpPr txBox="1"/>
          <p:nvPr/>
        </p:nvSpPr>
        <p:spPr>
          <a:xfrm>
            <a:off x="6675120" y="3657600"/>
            <a:ext cx="1920240" cy="38404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PostgreSQL 17</a:t>
            </a:r>
            <a:endParaRPr lang="en-US" sz="1000" dirty="0"/>
          </a:p>
        </p:txBody>
      </p:sp>
      <p:sp>
        <p:nvSpPr>
          <p:cNvPr id="23" name="Text 21"/>
          <p:cNvSpPr txBox="1"/>
          <p:nvPr/>
        </p:nvSpPr>
        <p:spPr>
          <a:xfrm>
            <a:off x="5852160" y="4069080"/>
            <a:ext cx="822960" cy="384048"/>
          </a:xfrm>
          <a:prstGeom prst="rect">
            <a:avLst/>
          </a:prstGeom>
          <a:noFill/>
          <a:ln/>
        </p:spPr>
        <p:txBody>
          <a:bodyPr wrap="square" lIns="0" tIns="0" rIns="0" bIns="0" rtlCol="0" anchor="t"/>
          <a:lstStyle/>
          <a:p>
            <a:pPr indent="0" marL="0">
              <a:buNone/>
            </a:pPr>
            <a:r>
              <a:rPr lang="en-US" sz="1100" b="1" dirty="0">
                <a:solidFill>
                  <a:srgbClr val="1B2430"/>
                </a:solidFill>
                <a:latin typeface="Calibri" pitchFamily="34" charset="0"/>
                <a:ea typeface="Calibri" pitchFamily="34" charset="-122"/>
                <a:cs typeface="Calibri" pitchFamily="34" charset="-120"/>
              </a:rPr>
              <a:t>Local</a:t>
            </a:r>
            <a:endParaRPr lang="en-US" sz="1100" dirty="0"/>
          </a:p>
        </p:txBody>
      </p:sp>
      <p:sp>
        <p:nvSpPr>
          <p:cNvPr id="24" name="Text 22"/>
          <p:cNvSpPr txBox="1"/>
          <p:nvPr/>
        </p:nvSpPr>
        <p:spPr>
          <a:xfrm>
            <a:off x="6675120" y="4069080"/>
            <a:ext cx="1920240" cy="384048"/>
          </a:xfrm>
          <a:prstGeom prst="rect">
            <a:avLst/>
          </a:prstGeom>
          <a:noFill/>
          <a:ln/>
        </p:spPr>
        <p:txBody>
          <a:bodyPr wrap="square" lIns="0" tIns="0" rIns="0" bIns="0" rtlCol="0" anchor="t"/>
          <a:lstStyle/>
          <a:p>
            <a:pPr indent="0" marL="0">
              <a:buNone/>
            </a:pPr>
            <a:r>
              <a:rPr lang="en-US" sz="1000" dirty="0">
                <a:solidFill>
                  <a:srgbClr val="3B4B5C"/>
                </a:solidFill>
                <a:latin typeface="Calibri" pitchFamily="34" charset="0"/>
                <a:ea typeface="Calibri" pitchFamily="34" charset="-122"/>
                <a:cs typeface="Calibri" pitchFamily="34" charset="-120"/>
              </a:rPr>
              <a:t>docker compose or two dev servers, CSV data</a:t>
            </a:r>
            <a:endParaRPr lang="en-US" sz="1000" dirty="0"/>
          </a:p>
        </p:txBody>
      </p:sp>
      <p:sp>
        <p:nvSpPr>
          <p:cNvPr id="25" name="Text 23"/>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26" name="Text 24"/>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640080"/>
          </a:xfrm>
          <a:prstGeom prst="rect">
            <a:avLst/>
          </a:prstGeom>
          <a:noFill/>
          <a:ln/>
        </p:spPr>
        <p:txBody>
          <a:bodyPr wrap="square" lIns="0" tIns="0" rIns="0" bIns="0" rtlCol="0" anchor="ctr"/>
          <a:lstStyle/>
          <a:p>
            <a:pPr indent="0" marL="0">
              <a:buNone/>
            </a:pPr>
            <a:r>
              <a:rPr lang="en-US" sz="3000" b="1" dirty="0">
                <a:solidFill>
                  <a:srgbClr val="1B2430"/>
                </a:solidFill>
                <a:latin typeface="Calibri" pitchFamily="34" charset="0"/>
                <a:ea typeface="Calibri" pitchFamily="34" charset="-122"/>
                <a:cs typeface="Calibri" pitchFamily="34" charset="-120"/>
              </a:rPr>
              <a:t>Where we are, and what is next</a:t>
            </a:r>
            <a:endParaRPr lang="en-US" sz="3000" dirty="0"/>
          </a:p>
        </p:txBody>
      </p:sp>
      <p:sp>
        <p:nvSpPr>
          <p:cNvPr id="3" name="Shape 1"/>
          <p:cNvSpPr/>
          <p:nvPr/>
        </p:nvSpPr>
        <p:spPr>
          <a:xfrm>
            <a:off x="457200" y="1280160"/>
            <a:ext cx="713232" cy="502920"/>
          </a:xfrm>
          <a:prstGeom prst="roundRect">
            <a:avLst>
              <a:gd name="adj" fmla="val 10909"/>
            </a:avLst>
          </a:prstGeom>
          <a:solidFill>
            <a:srgbClr val="F2A413"/>
          </a:solidFill>
          <a:ln w="12700">
            <a:solidFill>
              <a:srgbClr val="F2A413"/>
            </a:solidFill>
            <a:prstDash val="solid"/>
          </a:ln>
        </p:spPr>
      </p:sp>
      <p:sp>
        <p:nvSpPr>
          <p:cNvPr id="4" name="Text 2"/>
          <p:cNvSpPr txBox="1"/>
          <p:nvPr/>
        </p:nvSpPr>
        <p:spPr>
          <a:xfrm>
            <a:off x="457200"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411480"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Repo setup</a:t>
            </a:r>
            <a:endParaRPr lang="en-US" sz="850" dirty="0"/>
          </a:p>
        </p:txBody>
      </p:sp>
      <p:sp>
        <p:nvSpPr>
          <p:cNvPr id="6" name="Shape 4"/>
          <p:cNvSpPr/>
          <p:nvPr/>
        </p:nvSpPr>
        <p:spPr>
          <a:xfrm>
            <a:off x="1209751" y="1280160"/>
            <a:ext cx="713232" cy="502920"/>
          </a:xfrm>
          <a:prstGeom prst="roundRect">
            <a:avLst>
              <a:gd name="adj" fmla="val 10909"/>
            </a:avLst>
          </a:prstGeom>
          <a:solidFill>
            <a:srgbClr val="F2A413"/>
          </a:solidFill>
          <a:ln w="12700">
            <a:solidFill>
              <a:srgbClr val="F2A413"/>
            </a:solidFill>
            <a:prstDash val="solid"/>
          </a:ln>
        </p:spPr>
      </p:sp>
      <p:sp>
        <p:nvSpPr>
          <p:cNvPr id="7" name="Text 5"/>
          <p:cNvSpPr txBox="1"/>
          <p:nvPr/>
        </p:nvSpPr>
        <p:spPr>
          <a:xfrm>
            <a:off x="1209751"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2</a:t>
            </a:r>
            <a:endParaRPr lang="en-US" sz="1400" dirty="0"/>
          </a:p>
        </p:txBody>
      </p:sp>
      <p:sp>
        <p:nvSpPr>
          <p:cNvPr id="8" name="Text 6"/>
          <p:cNvSpPr txBox="1"/>
          <p:nvPr/>
        </p:nvSpPr>
        <p:spPr>
          <a:xfrm>
            <a:off x="1164031"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Database</a:t>
            </a:r>
            <a:endParaRPr lang="en-US" sz="850" dirty="0"/>
          </a:p>
        </p:txBody>
      </p:sp>
      <p:sp>
        <p:nvSpPr>
          <p:cNvPr id="9" name="Shape 7"/>
          <p:cNvSpPr/>
          <p:nvPr/>
        </p:nvSpPr>
        <p:spPr>
          <a:xfrm>
            <a:off x="1962302" y="1280160"/>
            <a:ext cx="713232" cy="502920"/>
          </a:xfrm>
          <a:prstGeom prst="roundRect">
            <a:avLst>
              <a:gd name="adj" fmla="val 10909"/>
            </a:avLst>
          </a:prstGeom>
          <a:solidFill>
            <a:srgbClr val="F2A413"/>
          </a:solidFill>
          <a:ln w="12700">
            <a:solidFill>
              <a:srgbClr val="F2A413"/>
            </a:solidFill>
            <a:prstDash val="solid"/>
          </a:ln>
        </p:spPr>
      </p:sp>
      <p:sp>
        <p:nvSpPr>
          <p:cNvPr id="10" name="Text 8"/>
          <p:cNvSpPr txBox="1"/>
          <p:nvPr/>
        </p:nvSpPr>
        <p:spPr>
          <a:xfrm>
            <a:off x="1962302"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3</a:t>
            </a:r>
            <a:endParaRPr lang="en-US" sz="1400" dirty="0"/>
          </a:p>
        </p:txBody>
      </p:sp>
      <p:sp>
        <p:nvSpPr>
          <p:cNvPr id="11" name="Text 9"/>
          <p:cNvSpPr txBox="1"/>
          <p:nvPr/>
        </p:nvSpPr>
        <p:spPr>
          <a:xfrm>
            <a:off x="1916582"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Backend</a:t>
            </a:r>
            <a:endParaRPr lang="en-US" sz="850" dirty="0"/>
          </a:p>
        </p:txBody>
      </p:sp>
      <p:sp>
        <p:nvSpPr>
          <p:cNvPr id="12" name="Shape 10"/>
          <p:cNvSpPr/>
          <p:nvPr/>
        </p:nvSpPr>
        <p:spPr>
          <a:xfrm>
            <a:off x="2714854" y="1280160"/>
            <a:ext cx="713232" cy="502920"/>
          </a:xfrm>
          <a:prstGeom prst="roundRect">
            <a:avLst>
              <a:gd name="adj" fmla="val 10909"/>
            </a:avLst>
          </a:prstGeom>
          <a:solidFill>
            <a:srgbClr val="F2A413"/>
          </a:solidFill>
          <a:ln w="12700">
            <a:solidFill>
              <a:srgbClr val="F2A413"/>
            </a:solidFill>
            <a:prstDash val="solid"/>
          </a:ln>
        </p:spPr>
      </p:sp>
      <p:sp>
        <p:nvSpPr>
          <p:cNvPr id="13" name="Text 11"/>
          <p:cNvSpPr txBox="1"/>
          <p:nvPr/>
        </p:nvSpPr>
        <p:spPr>
          <a:xfrm>
            <a:off x="2714854"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4</a:t>
            </a:r>
            <a:endParaRPr lang="en-US" sz="1400" dirty="0"/>
          </a:p>
        </p:txBody>
      </p:sp>
      <p:sp>
        <p:nvSpPr>
          <p:cNvPr id="14" name="Text 12"/>
          <p:cNvSpPr txBox="1"/>
          <p:nvPr/>
        </p:nvSpPr>
        <p:spPr>
          <a:xfrm>
            <a:off x="2669134"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Auth</a:t>
            </a:r>
            <a:endParaRPr lang="en-US" sz="850" dirty="0"/>
          </a:p>
        </p:txBody>
      </p:sp>
      <p:sp>
        <p:nvSpPr>
          <p:cNvPr id="15" name="Shape 13"/>
          <p:cNvSpPr/>
          <p:nvPr/>
        </p:nvSpPr>
        <p:spPr>
          <a:xfrm>
            <a:off x="3467405" y="1280160"/>
            <a:ext cx="713232" cy="502920"/>
          </a:xfrm>
          <a:prstGeom prst="roundRect">
            <a:avLst>
              <a:gd name="adj" fmla="val 10909"/>
            </a:avLst>
          </a:prstGeom>
          <a:solidFill>
            <a:srgbClr val="F2A413"/>
          </a:solidFill>
          <a:ln w="12700">
            <a:solidFill>
              <a:srgbClr val="F2A413"/>
            </a:solidFill>
            <a:prstDash val="solid"/>
          </a:ln>
        </p:spPr>
      </p:sp>
      <p:sp>
        <p:nvSpPr>
          <p:cNvPr id="16" name="Text 14"/>
          <p:cNvSpPr txBox="1"/>
          <p:nvPr/>
        </p:nvSpPr>
        <p:spPr>
          <a:xfrm>
            <a:off x="3467405"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5</a:t>
            </a:r>
            <a:endParaRPr lang="en-US" sz="1400" dirty="0"/>
          </a:p>
        </p:txBody>
      </p:sp>
      <p:sp>
        <p:nvSpPr>
          <p:cNvPr id="17" name="Text 15"/>
          <p:cNvSpPr txBox="1"/>
          <p:nvPr/>
        </p:nvSpPr>
        <p:spPr>
          <a:xfrm>
            <a:off x="3421685"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Data layer</a:t>
            </a:r>
            <a:endParaRPr lang="en-US" sz="850" dirty="0"/>
          </a:p>
        </p:txBody>
      </p:sp>
      <p:sp>
        <p:nvSpPr>
          <p:cNvPr id="18" name="Shape 16"/>
          <p:cNvSpPr/>
          <p:nvPr/>
        </p:nvSpPr>
        <p:spPr>
          <a:xfrm>
            <a:off x="4219956" y="1280160"/>
            <a:ext cx="713232" cy="502920"/>
          </a:xfrm>
          <a:prstGeom prst="roundRect">
            <a:avLst>
              <a:gd name="adj" fmla="val 10909"/>
            </a:avLst>
          </a:prstGeom>
          <a:solidFill>
            <a:srgbClr val="F2A413"/>
          </a:solidFill>
          <a:ln w="12700">
            <a:solidFill>
              <a:srgbClr val="F2A413"/>
            </a:solidFill>
            <a:prstDash val="solid"/>
          </a:ln>
        </p:spPr>
      </p:sp>
      <p:sp>
        <p:nvSpPr>
          <p:cNvPr id="19" name="Text 17"/>
          <p:cNvSpPr txBox="1"/>
          <p:nvPr/>
        </p:nvSpPr>
        <p:spPr>
          <a:xfrm>
            <a:off x="4219956"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6</a:t>
            </a:r>
            <a:endParaRPr lang="en-US" sz="1400" dirty="0"/>
          </a:p>
        </p:txBody>
      </p:sp>
      <p:sp>
        <p:nvSpPr>
          <p:cNvPr id="20" name="Text 18"/>
          <p:cNvSpPr txBox="1"/>
          <p:nvPr/>
        </p:nvSpPr>
        <p:spPr>
          <a:xfrm>
            <a:off x="4174236"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Dashboard UI</a:t>
            </a:r>
            <a:endParaRPr lang="en-US" sz="850" dirty="0"/>
          </a:p>
        </p:txBody>
      </p:sp>
      <p:sp>
        <p:nvSpPr>
          <p:cNvPr id="21" name="Shape 19"/>
          <p:cNvSpPr/>
          <p:nvPr/>
        </p:nvSpPr>
        <p:spPr>
          <a:xfrm>
            <a:off x="4972507" y="1280160"/>
            <a:ext cx="713232" cy="502920"/>
          </a:xfrm>
          <a:prstGeom prst="roundRect">
            <a:avLst>
              <a:gd name="adj" fmla="val 10909"/>
            </a:avLst>
          </a:prstGeom>
          <a:solidFill>
            <a:srgbClr val="F2A413"/>
          </a:solidFill>
          <a:ln w="12700">
            <a:solidFill>
              <a:srgbClr val="F2A413"/>
            </a:solidFill>
            <a:prstDash val="solid"/>
          </a:ln>
        </p:spPr>
      </p:sp>
      <p:sp>
        <p:nvSpPr>
          <p:cNvPr id="22" name="Text 20"/>
          <p:cNvSpPr txBox="1"/>
          <p:nvPr/>
        </p:nvSpPr>
        <p:spPr>
          <a:xfrm>
            <a:off x="4972507" y="1280160"/>
            <a:ext cx="713232" cy="502920"/>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7</a:t>
            </a:r>
            <a:endParaRPr lang="en-US" sz="1400" dirty="0"/>
          </a:p>
        </p:txBody>
      </p:sp>
      <p:sp>
        <p:nvSpPr>
          <p:cNvPr id="23" name="Text 21"/>
          <p:cNvSpPr txBox="1"/>
          <p:nvPr/>
        </p:nvSpPr>
        <p:spPr>
          <a:xfrm>
            <a:off x="4926787" y="1828800"/>
            <a:ext cx="804672" cy="502920"/>
          </a:xfrm>
          <a:prstGeom prst="rect">
            <a:avLst/>
          </a:prstGeom>
          <a:noFill/>
          <a:ln/>
        </p:spPr>
        <p:txBody>
          <a:bodyPr wrap="square" lIns="0" tIns="0" rIns="0" bIns="0" rtlCol="0" anchor="t"/>
          <a:lstStyle/>
          <a:p>
            <a:pPr algn="ctr" indent="0" marL="0">
              <a:buNone/>
            </a:pPr>
            <a:r>
              <a:rPr lang="en-US" sz="850" dirty="0">
                <a:solidFill>
                  <a:srgbClr val="1B2430"/>
                </a:solidFill>
                <a:latin typeface="Calibri" pitchFamily="34" charset="0"/>
                <a:ea typeface="Calibri" pitchFamily="34" charset="-122"/>
                <a:cs typeface="Calibri" pitchFamily="34" charset="-120"/>
              </a:rPr>
              <a:t>E2E hardening</a:t>
            </a:r>
            <a:endParaRPr lang="en-US" sz="850" dirty="0"/>
          </a:p>
        </p:txBody>
      </p:sp>
      <p:sp>
        <p:nvSpPr>
          <p:cNvPr id="24" name="Shape 22"/>
          <p:cNvSpPr/>
          <p:nvPr/>
        </p:nvSpPr>
        <p:spPr>
          <a:xfrm>
            <a:off x="5725058" y="1280160"/>
            <a:ext cx="713232" cy="502920"/>
          </a:xfrm>
          <a:prstGeom prst="roundRect">
            <a:avLst>
              <a:gd name="adj" fmla="val 10909"/>
            </a:avLst>
          </a:prstGeom>
          <a:solidFill>
            <a:srgbClr val="FFFFFF"/>
          </a:solidFill>
          <a:ln w="12700">
            <a:solidFill>
              <a:srgbClr val="D5DCE4"/>
            </a:solidFill>
            <a:prstDash val="solid"/>
          </a:ln>
        </p:spPr>
      </p:sp>
      <p:sp>
        <p:nvSpPr>
          <p:cNvPr id="25" name="Text 23"/>
          <p:cNvSpPr txBox="1"/>
          <p:nvPr/>
        </p:nvSpPr>
        <p:spPr>
          <a:xfrm>
            <a:off x="5725058" y="1280160"/>
            <a:ext cx="713232" cy="502920"/>
          </a:xfrm>
          <a:prstGeom prst="rect">
            <a:avLst/>
          </a:prstGeom>
          <a:noFill/>
          <a:ln/>
        </p:spPr>
        <p:txBody>
          <a:bodyPr wrap="square" lIns="0" tIns="0" rIns="0" bIns="0" rtlCol="0" anchor="ctr"/>
          <a:lstStyle/>
          <a:p>
            <a:pPr algn="ctr" indent="0" marL="0">
              <a:buNone/>
            </a:pPr>
            <a:r>
              <a:rPr lang="en-US" sz="1400" b="1" dirty="0">
                <a:solidFill>
                  <a:srgbClr val="6B7A89"/>
                </a:solidFill>
                <a:latin typeface="Calibri" pitchFamily="34" charset="0"/>
                <a:ea typeface="Calibri" pitchFamily="34" charset="-122"/>
                <a:cs typeface="Calibri" pitchFamily="34" charset="-120"/>
              </a:rPr>
              <a:t>8</a:t>
            </a:r>
            <a:endParaRPr lang="en-US" sz="1400" dirty="0"/>
          </a:p>
        </p:txBody>
      </p:sp>
      <p:sp>
        <p:nvSpPr>
          <p:cNvPr id="26" name="Text 24"/>
          <p:cNvSpPr txBox="1"/>
          <p:nvPr/>
        </p:nvSpPr>
        <p:spPr>
          <a:xfrm>
            <a:off x="5679338" y="1828800"/>
            <a:ext cx="804672" cy="502920"/>
          </a:xfrm>
          <a:prstGeom prst="rect">
            <a:avLst/>
          </a:prstGeom>
          <a:noFill/>
          <a:ln/>
        </p:spPr>
        <p:txBody>
          <a:bodyPr wrap="square" lIns="0" tIns="0" rIns="0" bIns="0" rtlCol="0" anchor="t"/>
          <a:lstStyle/>
          <a:p>
            <a:pPr algn="ctr" indent="0" marL="0">
              <a:buNone/>
            </a:pPr>
            <a:r>
              <a:rPr lang="en-US" sz="850" dirty="0">
                <a:solidFill>
                  <a:srgbClr val="6B7A89"/>
                </a:solidFill>
                <a:latin typeface="Calibri" pitchFamily="34" charset="0"/>
                <a:ea typeface="Calibri" pitchFamily="34" charset="-122"/>
                <a:cs typeface="Calibri" pitchFamily="34" charset="-120"/>
              </a:rPr>
              <a:t>A11y &amp; responsive</a:t>
            </a:r>
            <a:endParaRPr lang="en-US" sz="850" dirty="0"/>
          </a:p>
        </p:txBody>
      </p:sp>
      <p:sp>
        <p:nvSpPr>
          <p:cNvPr id="27" name="Shape 25"/>
          <p:cNvSpPr/>
          <p:nvPr/>
        </p:nvSpPr>
        <p:spPr>
          <a:xfrm>
            <a:off x="6477610" y="1280160"/>
            <a:ext cx="713232" cy="502920"/>
          </a:xfrm>
          <a:prstGeom prst="roundRect">
            <a:avLst>
              <a:gd name="adj" fmla="val 10909"/>
            </a:avLst>
          </a:prstGeom>
          <a:solidFill>
            <a:srgbClr val="FFFFFF"/>
          </a:solidFill>
          <a:ln w="12700">
            <a:solidFill>
              <a:srgbClr val="D5DCE4"/>
            </a:solidFill>
            <a:prstDash val="solid"/>
          </a:ln>
        </p:spPr>
      </p:sp>
      <p:sp>
        <p:nvSpPr>
          <p:cNvPr id="28" name="Text 26"/>
          <p:cNvSpPr txBox="1"/>
          <p:nvPr/>
        </p:nvSpPr>
        <p:spPr>
          <a:xfrm>
            <a:off x="6477610" y="1280160"/>
            <a:ext cx="713232" cy="502920"/>
          </a:xfrm>
          <a:prstGeom prst="rect">
            <a:avLst/>
          </a:prstGeom>
          <a:noFill/>
          <a:ln/>
        </p:spPr>
        <p:txBody>
          <a:bodyPr wrap="square" lIns="0" tIns="0" rIns="0" bIns="0" rtlCol="0" anchor="ctr"/>
          <a:lstStyle/>
          <a:p>
            <a:pPr algn="ctr" indent="0" marL="0">
              <a:buNone/>
            </a:pPr>
            <a:r>
              <a:rPr lang="en-US" sz="1400" b="1" dirty="0">
                <a:solidFill>
                  <a:srgbClr val="6B7A89"/>
                </a:solidFill>
                <a:latin typeface="Calibri" pitchFamily="34" charset="0"/>
                <a:ea typeface="Calibri" pitchFamily="34" charset="-122"/>
                <a:cs typeface="Calibri" pitchFamily="34" charset="-120"/>
              </a:rPr>
              <a:t>9</a:t>
            </a:r>
            <a:endParaRPr lang="en-US" sz="1400" dirty="0"/>
          </a:p>
        </p:txBody>
      </p:sp>
      <p:sp>
        <p:nvSpPr>
          <p:cNvPr id="29" name="Text 27"/>
          <p:cNvSpPr txBox="1"/>
          <p:nvPr/>
        </p:nvSpPr>
        <p:spPr>
          <a:xfrm>
            <a:off x="6431890" y="1828800"/>
            <a:ext cx="804672" cy="502920"/>
          </a:xfrm>
          <a:prstGeom prst="rect">
            <a:avLst/>
          </a:prstGeom>
          <a:noFill/>
          <a:ln/>
        </p:spPr>
        <p:txBody>
          <a:bodyPr wrap="square" lIns="0" tIns="0" rIns="0" bIns="0" rtlCol="0" anchor="t"/>
          <a:lstStyle/>
          <a:p>
            <a:pPr algn="ctr" indent="0" marL="0">
              <a:buNone/>
            </a:pPr>
            <a:r>
              <a:rPr lang="en-US" sz="850" dirty="0">
                <a:solidFill>
                  <a:srgbClr val="6B7A89"/>
                </a:solidFill>
                <a:latin typeface="Calibri" pitchFamily="34" charset="0"/>
                <a:ea typeface="Calibri" pitchFamily="34" charset="-122"/>
                <a:cs typeface="Calibri" pitchFamily="34" charset="-120"/>
              </a:rPr>
              <a:t>Performance</a:t>
            </a:r>
            <a:endParaRPr lang="en-US" sz="850" dirty="0"/>
          </a:p>
        </p:txBody>
      </p:sp>
      <p:sp>
        <p:nvSpPr>
          <p:cNvPr id="30" name="Shape 28"/>
          <p:cNvSpPr/>
          <p:nvPr/>
        </p:nvSpPr>
        <p:spPr>
          <a:xfrm>
            <a:off x="7230161" y="1280160"/>
            <a:ext cx="713232" cy="502920"/>
          </a:xfrm>
          <a:prstGeom prst="roundRect">
            <a:avLst>
              <a:gd name="adj" fmla="val 10909"/>
            </a:avLst>
          </a:prstGeom>
          <a:solidFill>
            <a:srgbClr val="FFFFFF"/>
          </a:solidFill>
          <a:ln w="12700">
            <a:solidFill>
              <a:srgbClr val="D5DCE4"/>
            </a:solidFill>
            <a:prstDash val="solid"/>
          </a:ln>
        </p:spPr>
      </p:sp>
      <p:sp>
        <p:nvSpPr>
          <p:cNvPr id="31" name="Text 29"/>
          <p:cNvSpPr txBox="1"/>
          <p:nvPr/>
        </p:nvSpPr>
        <p:spPr>
          <a:xfrm>
            <a:off x="7230161" y="1280160"/>
            <a:ext cx="713232" cy="502920"/>
          </a:xfrm>
          <a:prstGeom prst="rect">
            <a:avLst/>
          </a:prstGeom>
          <a:noFill/>
          <a:ln/>
        </p:spPr>
        <p:txBody>
          <a:bodyPr wrap="square" lIns="0" tIns="0" rIns="0" bIns="0" rtlCol="0" anchor="ctr"/>
          <a:lstStyle/>
          <a:p>
            <a:pPr algn="ctr" indent="0" marL="0">
              <a:buNone/>
            </a:pPr>
            <a:r>
              <a:rPr lang="en-US" sz="1400" b="1" dirty="0">
                <a:solidFill>
                  <a:srgbClr val="6B7A89"/>
                </a:solidFill>
                <a:latin typeface="Calibri" pitchFamily="34" charset="0"/>
                <a:ea typeface="Calibri" pitchFamily="34" charset="-122"/>
                <a:cs typeface="Calibri" pitchFamily="34" charset="-120"/>
              </a:rPr>
              <a:t>10</a:t>
            </a:r>
            <a:endParaRPr lang="en-US" sz="1400" dirty="0"/>
          </a:p>
        </p:txBody>
      </p:sp>
      <p:sp>
        <p:nvSpPr>
          <p:cNvPr id="32" name="Text 30"/>
          <p:cNvSpPr txBox="1"/>
          <p:nvPr/>
        </p:nvSpPr>
        <p:spPr>
          <a:xfrm>
            <a:off x="7184441" y="1828800"/>
            <a:ext cx="804672" cy="502920"/>
          </a:xfrm>
          <a:prstGeom prst="rect">
            <a:avLst/>
          </a:prstGeom>
          <a:noFill/>
          <a:ln/>
        </p:spPr>
        <p:txBody>
          <a:bodyPr wrap="square" lIns="0" tIns="0" rIns="0" bIns="0" rtlCol="0" anchor="t"/>
          <a:lstStyle/>
          <a:p>
            <a:pPr algn="ctr" indent="0" marL="0">
              <a:buNone/>
            </a:pPr>
            <a:r>
              <a:rPr lang="en-US" sz="850" dirty="0">
                <a:solidFill>
                  <a:srgbClr val="6B7A89"/>
                </a:solidFill>
                <a:latin typeface="Calibri" pitchFamily="34" charset="0"/>
                <a:ea typeface="Calibri" pitchFamily="34" charset="-122"/>
                <a:cs typeface="Calibri" pitchFamily="34" charset="-120"/>
              </a:rPr>
              <a:t>Testing</a:t>
            </a:r>
            <a:endParaRPr lang="en-US" sz="850" dirty="0"/>
          </a:p>
        </p:txBody>
      </p:sp>
      <p:sp>
        <p:nvSpPr>
          <p:cNvPr id="33" name="Shape 31"/>
          <p:cNvSpPr/>
          <p:nvPr/>
        </p:nvSpPr>
        <p:spPr>
          <a:xfrm>
            <a:off x="7982712" y="1280160"/>
            <a:ext cx="713232" cy="502920"/>
          </a:xfrm>
          <a:prstGeom prst="roundRect">
            <a:avLst>
              <a:gd name="adj" fmla="val 10909"/>
            </a:avLst>
          </a:prstGeom>
          <a:solidFill>
            <a:srgbClr val="FFFFFF"/>
          </a:solidFill>
          <a:ln w="12700">
            <a:solidFill>
              <a:srgbClr val="D5DCE4"/>
            </a:solidFill>
            <a:prstDash val="solid"/>
          </a:ln>
        </p:spPr>
      </p:sp>
      <p:sp>
        <p:nvSpPr>
          <p:cNvPr id="34" name="Text 32"/>
          <p:cNvSpPr txBox="1"/>
          <p:nvPr/>
        </p:nvSpPr>
        <p:spPr>
          <a:xfrm>
            <a:off x="7982712" y="1280160"/>
            <a:ext cx="713232" cy="502920"/>
          </a:xfrm>
          <a:prstGeom prst="rect">
            <a:avLst/>
          </a:prstGeom>
          <a:noFill/>
          <a:ln/>
        </p:spPr>
        <p:txBody>
          <a:bodyPr wrap="square" lIns="0" tIns="0" rIns="0" bIns="0" rtlCol="0" anchor="ctr"/>
          <a:lstStyle/>
          <a:p>
            <a:pPr algn="ctr" indent="0" marL="0">
              <a:buNone/>
            </a:pPr>
            <a:r>
              <a:rPr lang="en-US" sz="1400" b="1" dirty="0">
                <a:solidFill>
                  <a:srgbClr val="6B7A89"/>
                </a:solidFill>
                <a:latin typeface="Calibri" pitchFamily="34" charset="0"/>
                <a:ea typeface="Calibri" pitchFamily="34" charset="-122"/>
                <a:cs typeface="Calibri" pitchFamily="34" charset="-120"/>
              </a:rPr>
              <a:t>11</a:t>
            </a:r>
            <a:endParaRPr lang="en-US" sz="1400" dirty="0"/>
          </a:p>
        </p:txBody>
      </p:sp>
      <p:sp>
        <p:nvSpPr>
          <p:cNvPr id="35" name="Text 33"/>
          <p:cNvSpPr txBox="1"/>
          <p:nvPr/>
        </p:nvSpPr>
        <p:spPr>
          <a:xfrm>
            <a:off x="7936992" y="1828800"/>
            <a:ext cx="804672" cy="502920"/>
          </a:xfrm>
          <a:prstGeom prst="rect">
            <a:avLst/>
          </a:prstGeom>
          <a:noFill/>
          <a:ln/>
        </p:spPr>
        <p:txBody>
          <a:bodyPr wrap="square" lIns="0" tIns="0" rIns="0" bIns="0" rtlCol="0" anchor="t"/>
          <a:lstStyle/>
          <a:p>
            <a:pPr algn="ctr" indent="0" marL="0">
              <a:buNone/>
            </a:pPr>
            <a:r>
              <a:rPr lang="en-US" sz="850" dirty="0">
                <a:solidFill>
                  <a:srgbClr val="6B7A89"/>
                </a:solidFill>
                <a:latin typeface="Calibri" pitchFamily="34" charset="0"/>
                <a:ea typeface="Calibri" pitchFamily="34" charset="-122"/>
                <a:cs typeface="Calibri" pitchFamily="34" charset="-120"/>
              </a:rPr>
              <a:t>Final docs</a:t>
            </a:r>
            <a:endParaRPr lang="en-US" sz="850" dirty="0"/>
          </a:p>
        </p:txBody>
      </p:sp>
      <p:sp>
        <p:nvSpPr>
          <p:cNvPr id="36" name="Text 34"/>
          <p:cNvSpPr txBox="1"/>
          <p:nvPr/>
        </p:nvSpPr>
        <p:spPr>
          <a:xfrm>
            <a:off x="457200" y="2423160"/>
            <a:ext cx="3657600" cy="274320"/>
          </a:xfrm>
          <a:prstGeom prst="rect">
            <a:avLst/>
          </a:prstGeom>
          <a:noFill/>
          <a:ln/>
        </p:spPr>
        <p:txBody>
          <a:bodyPr wrap="square" lIns="0" tIns="0" rIns="0" bIns="0" rtlCol="0" anchor="ctr"/>
          <a:lstStyle/>
          <a:p>
            <a:pPr indent="0" marL="0">
              <a:buNone/>
            </a:pPr>
            <a:r>
              <a:rPr lang="en-US" sz="1200" b="1" dirty="0">
                <a:solidFill>
                  <a:srgbClr val="C77F05"/>
                </a:solidFill>
                <a:latin typeface="Calibri" pitchFamily="34" charset="0"/>
                <a:ea typeface="Calibri" pitchFamily="34" charset="-122"/>
                <a:cs typeface="Calibri" pitchFamily="34" charset="-120"/>
              </a:rPr>
              <a:t>Phases 1-7 complete</a:t>
            </a:r>
            <a:endParaRPr lang="en-US" sz="1200" dirty="0"/>
          </a:p>
        </p:txBody>
      </p:sp>
      <p:sp>
        <p:nvSpPr>
          <p:cNvPr id="37" name="Shape 35"/>
          <p:cNvSpPr/>
          <p:nvPr/>
        </p:nvSpPr>
        <p:spPr>
          <a:xfrm>
            <a:off x="457200" y="2788920"/>
            <a:ext cx="4023360" cy="1783080"/>
          </a:xfrm>
          <a:prstGeom prst="roundRect">
            <a:avLst>
              <a:gd name="adj" fmla="val 4103"/>
            </a:avLst>
          </a:prstGeom>
          <a:solidFill>
            <a:srgbClr val="F1F4F8"/>
          </a:solidFill>
          <a:ln w="12700">
            <a:solidFill>
              <a:srgbClr val="F1F4F8"/>
            </a:solidFill>
            <a:prstDash val="solid"/>
          </a:ln>
        </p:spPr>
      </p:sp>
      <p:sp>
        <p:nvSpPr>
          <p:cNvPr id="38" name="Text 36"/>
          <p:cNvSpPr txBox="1"/>
          <p:nvPr/>
        </p:nvSpPr>
        <p:spPr>
          <a:xfrm>
            <a:off x="640080" y="2880360"/>
            <a:ext cx="365760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Done since Review 1</a:t>
            </a:r>
            <a:endParaRPr lang="en-US" sz="1200" dirty="0"/>
          </a:p>
        </p:txBody>
      </p:sp>
      <p:sp>
        <p:nvSpPr>
          <p:cNvPr id="39" name="Text 37"/>
          <p:cNvSpPr txBox="1"/>
          <p:nvPr/>
        </p:nvSpPr>
        <p:spPr>
          <a:xfrm>
            <a:off x="640080" y="3200400"/>
            <a:ext cx="3703320" cy="13258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Schema and seed applied to live Supabase; 211 live API checks passing</a:t>
            </a:r>
            <a:endParaRPr lang="en-US" sz="1100" dirty="0"/>
          </a:p>
          <a:p>
            <a:pPr marL="177800" indent="-1778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Deployed: frontend on Vercel, backend on Render</a:t>
            </a:r>
            <a:endParaRPr lang="en-US" sz="1100" dirty="0"/>
          </a:p>
          <a:p>
            <a:pPr marL="177800" indent="-1778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Offline CSV data source and one-switch local development</a:t>
            </a:r>
            <a:endParaRPr lang="en-US" sz="1100" dirty="0"/>
          </a:p>
        </p:txBody>
      </p:sp>
      <p:sp>
        <p:nvSpPr>
          <p:cNvPr id="40" name="Shape 38"/>
          <p:cNvSpPr/>
          <p:nvPr/>
        </p:nvSpPr>
        <p:spPr>
          <a:xfrm>
            <a:off x="4663440" y="2788920"/>
            <a:ext cx="4023360" cy="1783080"/>
          </a:xfrm>
          <a:prstGeom prst="roundRect">
            <a:avLst>
              <a:gd name="adj" fmla="val 4103"/>
            </a:avLst>
          </a:prstGeom>
          <a:solidFill>
            <a:srgbClr val="F1F4F8"/>
          </a:solidFill>
          <a:ln w="12700">
            <a:solidFill>
              <a:srgbClr val="F1F4F8"/>
            </a:solidFill>
            <a:prstDash val="solid"/>
          </a:ln>
        </p:spPr>
      </p:sp>
      <p:sp>
        <p:nvSpPr>
          <p:cNvPr id="41" name="Text 39"/>
          <p:cNvSpPr txBox="1"/>
          <p:nvPr/>
        </p:nvSpPr>
        <p:spPr>
          <a:xfrm>
            <a:off x="4846320" y="2880360"/>
            <a:ext cx="3657600" cy="274320"/>
          </a:xfrm>
          <a:prstGeom prst="rect">
            <a:avLst/>
          </a:prstGeom>
          <a:noFill/>
          <a:ln/>
        </p:spPr>
        <p:txBody>
          <a:bodyPr wrap="square" lIns="0" tIns="0" rIns="0" bIns="0" rtlCol="0" anchor="ctr"/>
          <a:lstStyle/>
          <a:p>
            <a:pPr indent="0" marL="0">
              <a:buNone/>
            </a:pPr>
            <a:r>
              <a:rPr lang="en-US" sz="1200" b="1" dirty="0">
                <a:solidFill>
                  <a:srgbClr val="1B2430"/>
                </a:solidFill>
                <a:latin typeface="Calibri" pitchFamily="34" charset="0"/>
                <a:ea typeface="Calibri" pitchFamily="34" charset="-122"/>
                <a:cs typeface="Calibri" pitchFamily="34" charset="-120"/>
              </a:rPr>
              <a:t>Next (Phases 8-11)</a:t>
            </a:r>
            <a:endParaRPr lang="en-US" sz="1200" dirty="0"/>
          </a:p>
        </p:txBody>
      </p:sp>
      <p:sp>
        <p:nvSpPr>
          <p:cNvPr id="42" name="Text 40"/>
          <p:cNvSpPr txBox="1"/>
          <p:nvPr/>
        </p:nvSpPr>
        <p:spPr>
          <a:xfrm>
            <a:off x="4846320" y="3200400"/>
            <a:ext cx="3703320" cy="132588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Finish Google sign-in verification in a real browser on the hosted site</a:t>
            </a:r>
            <a:endParaRPr lang="en-US" sz="1100" dirty="0"/>
          </a:p>
          <a:p>
            <a:pPr marL="177800" indent="-1778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Accessibility audit, responsive polish, performance budget</a:t>
            </a:r>
            <a:endParaRPr lang="en-US" sz="1100" dirty="0"/>
          </a:p>
          <a:p>
            <a:pPr marL="177800" indent="-177800">
              <a:spcAft>
                <a:spcPts val="600"/>
              </a:spcAft>
              <a:buSzPct val="100000"/>
              <a:buChar char="•"/>
            </a:pPr>
            <a:r>
              <a:rPr lang="en-US" sz="1100" dirty="0">
                <a:solidFill>
                  <a:srgbClr val="1B2430"/>
                </a:solidFill>
                <a:latin typeface="Calibri" pitchFamily="34" charset="0"/>
                <a:ea typeface="Calibri" pitchFamily="34" charset="-122"/>
                <a:cs typeface="Calibri" pitchFamily="34" charset="-120"/>
              </a:rPr>
              <a:t>Browser end-to-end tests (Playwright) and final documentation</a:t>
            </a:r>
            <a:endParaRPr lang="en-US" sz="1100" dirty="0"/>
          </a:p>
        </p:txBody>
      </p:sp>
      <p:sp>
        <p:nvSpPr>
          <p:cNvPr id="43" name="Text 41"/>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6B7A89"/>
                </a:solidFill>
                <a:latin typeface="Calibri" pitchFamily="34" charset="0"/>
                <a:ea typeface="Calibri" pitchFamily="34" charset="-122"/>
                <a:cs typeface="Calibri" pitchFamily="34" charset="-120"/>
              </a:rPr>
              <a:t>Automobile Component Factory  |  Review 2</a:t>
            </a:r>
            <a:endParaRPr lang="en-US" sz="900" dirty="0"/>
          </a:p>
        </p:txBody>
      </p:sp>
      <p:sp>
        <p:nvSpPr>
          <p:cNvPr id="44" name="Text 42"/>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6B7A8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430"/>
        </a:solidFill>
      </p:bgPr>
    </p:bg>
    <p:spTree>
      <p:nvGrpSpPr>
        <p:cNvPr id="1" name=""/>
        <p:cNvGrpSpPr/>
        <p:nvPr/>
      </p:nvGrpSpPr>
      <p:grpSpPr>
        <a:xfrm>
          <a:off x="0" y="0"/>
          <a:ext cx="0" cy="0"/>
          <a:chOff x="0" y="0"/>
          <a:chExt cx="0" cy="0"/>
        </a:xfrm>
      </p:grpSpPr>
      <p:sp>
        <p:nvSpPr>
          <p:cNvPr id="2" name="Text 0"/>
          <p:cNvSpPr txBox="1"/>
          <p:nvPr/>
        </p:nvSpPr>
        <p:spPr>
          <a:xfrm>
            <a:off x="548640" y="1554480"/>
            <a:ext cx="804672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Demo and questions</a:t>
            </a:r>
            <a:endParaRPr lang="en-US" sz="3600" dirty="0"/>
          </a:p>
        </p:txBody>
      </p:sp>
      <p:sp>
        <p:nvSpPr>
          <p:cNvPr id="3" name="Text 1"/>
          <p:cNvSpPr txBox="1"/>
          <p:nvPr/>
        </p:nvSpPr>
        <p:spPr>
          <a:xfrm>
            <a:off x="548640" y="2423160"/>
            <a:ext cx="8046720" cy="365760"/>
          </a:xfrm>
          <a:prstGeom prst="rect">
            <a:avLst/>
          </a:prstGeom>
          <a:noFill/>
          <a:ln/>
        </p:spPr>
        <p:txBody>
          <a:bodyPr wrap="square" lIns="0" tIns="0" rIns="0" bIns="0" rtlCol="0" anchor="ctr"/>
          <a:lstStyle/>
          <a:p>
            <a:pPr indent="0" marL="0">
              <a:buNone/>
            </a:pPr>
            <a:r>
              <a:rPr lang="en-US" sz="1600" dirty="0">
                <a:solidFill>
                  <a:srgbClr val="F2A413"/>
                </a:solidFill>
                <a:latin typeface="Calibri" pitchFamily="34" charset="0"/>
                <a:ea typeface="Calibri" pitchFamily="34" charset="-122"/>
                <a:cs typeface="Calibri" pitchFamily="34" charset="-120"/>
              </a:rPr>
              <a:t>Live site:  industrial-ui.vercel.app</a:t>
            </a:r>
            <a:endParaRPr lang="en-US" sz="1600" dirty="0"/>
          </a:p>
        </p:txBody>
      </p:sp>
      <p:sp>
        <p:nvSpPr>
          <p:cNvPr id="4" name="Text 2"/>
          <p:cNvSpPr txBox="1"/>
          <p:nvPr/>
        </p:nvSpPr>
        <p:spPr>
          <a:xfrm>
            <a:off x="548640" y="2834640"/>
            <a:ext cx="8046720" cy="365760"/>
          </a:xfrm>
          <a:prstGeom prst="rect">
            <a:avLst/>
          </a:prstGeom>
          <a:noFill/>
          <a:ln/>
        </p:spPr>
        <p:txBody>
          <a:bodyPr wrap="square" lIns="0" tIns="0" rIns="0" bIns="0" rtlCol="0" anchor="ctr"/>
          <a:lstStyle/>
          <a:p>
            <a:pPr indent="0" marL="0">
              <a:buNone/>
            </a:pPr>
            <a:r>
              <a:rPr lang="en-US" sz="1300" dirty="0">
                <a:solidFill>
                  <a:srgbClr val="AEB9C6"/>
                </a:solidFill>
                <a:latin typeface="Calibri" pitchFamily="34" charset="0"/>
                <a:ea typeface="Calibri" pitchFamily="34" charset="-122"/>
                <a:cs typeface="Calibri" pitchFamily="34" charset="-120"/>
              </a:rPr>
              <a:t>Local:  npm run dev  +  python -m app  (CSV data, no cloud services needed)</a:t>
            </a:r>
            <a:endParaRPr lang="en-US" sz="1300" dirty="0"/>
          </a:p>
        </p:txBody>
      </p:sp>
      <p:sp>
        <p:nvSpPr>
          <p:cNvPr id="5" name="Text 3"/>
          <p:cNvSpPr txBox="1"/>
          <p:nvPr/>
        </p:nvSpPr>
        <p:spPr>
          <a:xfrm>
            <a:off x="548640" y="3246120"/>
            <a:ext cx="8046720" cy="365760"/>
          </a:xfrm>
          <a:prstGeom prst="rect">
            <a:avLst/>
          </a:prstGeom>
          <a:noFill/>
          <a:ln/>
        </p:spPr>
        <p:txBody>
          <a:bodyPr wrap="square" lIns="0" tIns="0" rIns="0" bIns="0" rtlCol="0" anchor="ctr"/>
          <a:lstStyle/>
          <a:p>
            <a:pPr indent="0" marL="0">
              <a:buNone/>
            </a:pPr>
            <a:r>
              <a:rPr lang="en-US" sz="1100" dirty="0">
                <a:solidFill>
                  <a:srgbClr val="AEB9C6"/>
                </a:solidFill>
                <a:latin typeface="Calibri" pitchFamily="34" charset="0"/>
                <a:ea typeface="Calibri" pitchFamily="34" charset="-122"/>
                <a:cs typeface="Calibri" pitchFamily="34" charset="-120"/>
              </a:rPr>
              <a:t>Docs: architecture, database, API, authentication, dashboard UI, production readiness, deployment</a:t>
            </a:r>
            <a:endParaRPr lang="en-US" sz="1100" dirty="0"/>
          </a:p>
        </p:txBody>
      </p:sp>
      <p:sp>
        <p:nvSpPr>
          <p:cNvPr id="6" name="Text 4"/>
          <p:cNvSpPr txBox="1"/>
          <p:nvPr/>
        </p:nvSpPr>
        <p:spPr>
          <a:xfrm>
            <a:off x="457200" y="4777740"/>
            <a:ext cx="5486400" cy="228600"/>
          </a:xfrm>
          <a:prstGeom prst="rect">
            <a:avLst/>
          </a:prstGeom>
          <a:noFill/>
          <a:ln/>
        </p:spPr>
        <p:txBody>
          <a:bodyPr wrap="square" lIns="0" tIns="0" rIns="0" bIns="0" rtlCol="0" anchor="ctr"/>
          <a:lstStyle/>
          <a:p>
            <a:pPr indent="0" marL="0">
              <a:buNone/>
            </a:pPr>
            <a:r>
              <a:rPr lang="en-US" sz="900" dirty="0">
                <a:solidFill>
                  <a:srgbClr val="AEB9C6"/>
                </a:solidFill>
                <a:latin typeface="Calibri" pitchFamily="34" charset="0"/>
                <a:ea typeface="Calibri" pitchFamily="34" charset="-122"/>
                <a:cs typeface="Calibri" pitchFamily="34" charset="-120"/>
              </a:rPr>
              <a:t>Automobile Component Factory  |  Review 2</a:t>
            </a:r>
            <a:endParaRPr lang="en-US" sz="900" dirty="0"/>
          </a:p>
        </p:txBody>
      </p:sp>
      <p:sp>
        <p:nvSpPr>
          <p:cNvPr id="7" name="Text 5"/>
          <p:cNvSpPr txBox="1"/>
          <p:nvPr/>
        </p:nvSpPr>
        <p:spPr>
          <a:xfrm>
            <a:off x="8229600" y="4777740"/>
            <a:ext cx="457200" cy="228600"/>
          </a:xfrm>
          <a:prstGeom prst="rect">
            <a:avLst/>
          </a:prstGeom>
          <a:noFill/>
          <a:ln/>
        </p:spPr>
        <p:txBody>
          <a:bodyPr wrap="square" lIns="0" tIns="0" rIns="0" bIns="0" rtlCol="0" anchor="ctr"/>
          <a:lstStyle/>
          <a:p>
            <a:pPr algn="r" indent="0" marL="0">
              <a:buNone/>
            </a:pPr>
            <a:r>
              <a:rPr lang="en-US" sz="900" dirty="0">
                <a:solidFill>
                  <a:srgbClr val="AEB9C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Automobile Component Factory - Operations Dashboard - Review 2</dc:title>
  <dc:subject>PptxGenJS Presentation</dc:subject>
  <dc:creator>IR Project Team</dc:creator>
  <cp:lastModifiedBy>IR Project Team</cp:lastModifiedBy>
  <cp:revision>1</cp:revision>
  <dcterms:created xsi:type="dcterms:W3CDTF">2026-09-21T18:00:47Z</dcterms:created>
  <dcterms:modified xsi:type="dcterms:W3CDTF">2026-09-21T18:00:47Z</dcterms:modified>
</cp:coreProperties>
</file>